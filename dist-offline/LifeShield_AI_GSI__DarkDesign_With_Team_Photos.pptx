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exposed to flooding (M)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1970</c:v>
                </c:pt>
                <c:pt idx="1">
                  <c:v>2020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28.1</c:v>
                </c:pt>
                <c:pt idx="1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F3-44B1-8184-D71E53022A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Insured losses ($B)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2030 (proj.)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</c:v>
                </c:pt>
                <c:pt idx="1">
                  <c:v>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CB-487A-80A0-73F5BD9C62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/ current size ($B)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D6DE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Emergency Mgmt</c:v>
                </c:pt>
                <c:pt idx="1">
                  <c:v>Flood Insurance</c:v>
                </c:pt>
                <c:pt idx="2">
                  <c:v>AI in Insurance</c:v>
                </c:pt>
                <c:pt idx="3">
                  <c:v>Cat. Modeling</c:v>
                </c:pt>
                <c:pt idx="4">
                  <c:v>Flood Warning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137.5</c:v>
                </c:pt>
                <c:pt idx="1">
                  <c:v>17.5</c:v>
                </c:pt>
                <c:pt idx="2">
                  <c:v>11.3</c:v>
                </c:pt>
                <c:pt idx="3">
                  <c:v>1.82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4-4A7D-8080-E66316D1F4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size ($B)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D6DE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Emergency Mgmt</c:v>
                </c:pt>
                <c:pt idx="1">
                  <c:v>Flood Insurance</c:v>
                </c:pt>
                <c:pt idx="2">
                  <c:v>AI in Insurance</c:v>
                </c:pt>
                <c:pt idx="3">
                  <c:v>Cat. Modeling</c:v>
                </c:pt>
                <c:pt idx="4">
                  <c:v>Flood Warning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196.2</c:v>
                </c:pt>
                <c:pt idx="1">
                  <c:v>37.1</c:v>
                </c:pt>
                <c:pt idx="2">
                  <c:v>93.9</c:v>
                </c:pt>
                <c:pt idx="3">
                  <c:v>3.85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B4-4A7D-8080-E66316D1F4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6DEE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 precision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fix</c:v>
                </c:pt>
                <c:pt idx="1">
                  <c:v>After fix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00-4203-AE6C-1F3D168A1E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Circuit-breaker recovery (s)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418</c:v>
                </c:pt>
                <c:pt idx="1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A-4A5F-A233-275A9241E8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D6DE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NVIDIA</c:v>
                </c:pt>
                <c:pt idx="1">
                  <c:v>AMD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B7-419D-B4BB-A32F0F21DF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1597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D6DE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NVIDIA</c:v>
                </c:pt>
                <c:pt idx="1">
                  <c:v>AMD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39.1</c:v>
                </c:pt>
                <c:pt idx="1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01-4E55-8561-EC9CE2DAB6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33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6D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681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>
                <a:latin typeface="Arial"/>
              </a:rPr>
              <a:t>Architecture update:</a:t>
            </a:r>
            <a:endParaRPr lang="en-US" sz="1000"/>
          </a:p>
          <a:p>
            <a:r>
              <a:rPr lang="en-US" sz="1000">
                <a:latin typeface="Arial"/>
              </a:rPr>
              <a:t>• Deep Agent Orchestrator represents the long-running planning and tool-execution layer used by LifeShield. NVIDIA describes deep agents as combining planning, persistent memory, tool execution, reusable skills and delegation. Source: https://www.nvidia.com/en-eu/glossary/deep-agents/</a:t>
            </a:r>
            <a:endParaRPr lang="en-US" sz="1000"/>
          </a:p>
          <a:p>
            <a:r>
              <a:rPr lang="en-US" sz="1000">
                <a:latin typeface="Arial"/>
              </a:rPr>
              <a:t>• OpenShell provides the sandbox and policy boundary for autonomous agents, including filesystem, network, process and inference controls. Source: https://docs.nvidia.com/openshell/about/overview</a:t>
            </a:r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>
                <a:latin typeface="Arial"/>
              </a:rPr>
              <a:t>LifeShield fine-tuning evidence:</a:t>
            </a:r>
            <a:endParaRPr lang="en-US" sz="1000"/>
          </a:p>
          <a:p>
            <a:r>
              <a:rPr lang="en-US" sz="1000">
                <a:latin typeface="Arial"/>
              </a:rPr>
              <a:t>• User-supplied walkthrough: C:/Users/srini/Downloads/lifeshield_finetuning_step_by_step.html</a:t>
            </a:r>
            <a:endParaRPr lang="en-US" sz="1000"/>
          </a:p>
          <a:p>
            <a:r>
              <a:rPr lang="en-US" sz="1000">
                <a:latin typeface="Arial"/>
              </a:rPr>
              <a:t>• LifeShield used NeMo Data Designer with Nemotron 3 Super 120B to generate 100 synthetic disaster-response examples.</a:t>
            </a:r>
            <a:endParaRPr lang="en-US" sz="1000"/>
          </a:p>
          <a:p>
            <a:r>
              <a:rPr lang="en-US" sz="1000">
                <a:latin typeface="Arial"/>
              </a:rPr>
              <a:t>• NeMo AutoModel applied LoRA supervised fine-tuning to Nemotron 3.5 Lightning 30B on one NVIDIA B300 for 100 steps. The resulting LifeShield adapter is approximately 14 MB, with 7,072,256 trainable parameters, about 0.02% of the loaded model.</a:t>
            </a:r>
            <a:endParaRPr lang="en-US" sz="1000"/>
          </a:p>
          <a:p>
            <a:r>
              <a:rPr lang="en-US" sz="1000">
                <a:latin typeface="Arial"/>
              </a:rPr>
              <a:t>• NVIDIA describes Data Designer as a framework for orchestrating high-quality synthetic data generation. Source: https://docs.nvidia.com/nemo/datadesigner/getting-started/welcome</a:t>
            </a:r>
            <a:endParaRPr lang="en-US" sz="1000"/>
          </a:p>
          <a:p>
            <a:r>
              <a:rPr lang="en-US" sz="1000">
                <a:latin typeface="Arial"/>
              </a:rPr>
              <a:t>• NVIDIA documents NeMo AutoModel support for LLM fine-tuning and parameter-efficient LoRA adaptation. Source: https://docs.nvidia.com/nemo/automodel/latest/model-coverage/large-language-models/overview</a:t>
            </a:r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>
                <a:latin typeface="Arial"/>
              </a:rPr>
              <a:t>Slide 13 evidence notes (accessed 16 September 2026):</a:t>
            </a:r>
            <a:endParaRPr lang="en-US" sz="1000"/>
          </a:p>
          <a:p>
            <a:r>
              <a:rPr lang="en-US" sz="1000">
                <a:latin typeface="Arial"/>
              </a:rPr>
              <a:t>• LifeShield deployed configuration supplied by the team: 4 NVIDIA B300 GPUs with 275 GB usable GPU memory each, totaling 1.1 TB aggregate usable GPU memory.</a:t>
            </a:r>
            <a:endParaRPr lang="en-US" sz="1000"/>
          </a:p>
          <a:p>
            <a:r>
              <a:rPr lang="en-US" sz="1000">
                <a:latin typeface="Arial"/>
              </a:rPr>
              <a:t>• NVIDIA documents B300 Blackwell Ultra support for FP4 inference. The published DGX B300 system specification uses eight GPUs and is not presented here as the LifeShield configuration. Source: https://docs.nvidia.com/dgx/dgxb300-user-guide/dgxb300-user-guide.pdf</a:t>
            </a:r>
            <a:endParaRPr lang="en-US" sz="1000"/>
          </a:p>
          <a:p>
            <a:r>
              <a:rPr lang="en-US" sz="1000">
                <a:latin typeface="Arial"/>
              </a:rPr>
              <a:t>• NeMo Guardrails has five control stages: input, retrieval, dialog, execution and output. Source: https://docs.nvidia.com/nemo/guardrails/about-nemo-guardrails-library/rail-types</a:t>
            </a:r>
            <a:endParaRPr lang="en-US" sz="1000"/>
          </a:p>
          <a:p>
            <a:r>
              <a:rPr lang="en-US" sz="1000">
                <a:latin typeface="Arial"/>
              </a:rPr>
              <a:t>• NeMo Guardrails library support summary: 33 built-in rails and 78 exposed surfaces. Source: https://docs.nvidia.com/nemo/guardrails/reference/rail-engine-support</a:t>
            </a:r>
            <a:endParaRPr lang="en-US" sz="1000"/>
          </a:p>
          <a:p>
            <a:r>
              <a:rPr lang="en-US" sz="1000">
                <a:latin typeface="Arial"/>
              </a:rPr>
              <a:t>• NVIDIA NIM microservices are containerized, portable and expose industry-standard APIs for self-hosting in cloud, data center or workstation environments. Source: https://docs.api.nvidia.com/nim/docs/introduction</a:t>
            </a:r>
            <a:endParaRPr lang="en-US" sz="1000"/>
          </a:p>
          <a:p>
            <a:r>
              <a:rPr lang="en-US" sz="1000">
                <a:latin typeface="Arial"/>
              </a:rPr>
              <a:t>• LifeShield figures (152-second live run; 0.71 retrieval precision) are internal baseline measurements carried forward from the prior slide 13 and are not comparative B300 gains.</a:t>
            </a:r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>
                <a:latin typeface="Arial"/>
              </a:rPr>
              <a:t>Future roadmap sources:</a:t>
            </a:r>
            <a:endParaRPr lang="en-US" sz="1000"/>
          </a:p>
          <a:p>
            <a:r>
              <a:rPr lang="en-US" sz="1000">
                <a:latin typeface="Arial"/>
              </a:rPr>
              <a:t>• NVIDIA Omniverse provides accelerated libraries and microservices for physical AI simulation, digital twins and agentic workflows. LifeShield roadmap use: flood digital-twin scenario simulation. Source: https://docs.nvidia.com/omniverse/index.html</a:t>
            </a:r>
            <a:endParaRPr lang="en-US" sz="1000"/>
          </a:p>
          <a:p>
            <a:r>
              <a:rPr lang="en-US" sz="1000">
                <a:latin typeface="Arial"/>
              </a:rPr>
              <a:t>• NVIDIA Metropolis is a vision AI platform for building and scaling video analytics agents from edge to cloud, including smart-city and transportation use cases. LifeShield roadmap use: traffic, damage and public-safety video intelligence. Source: https://www.nvidia.com/en-us/autonomous-machines/intelligent-video-analytics-platform/</a:t>
            </a:r>
            <a:endParaRPr lang="en-US" sz="1000"/>
          </a:p>
          <a:p>
            <a:r>
              <a:rPr lang="en-US" sz="1000">
                <a:latin typeface="Arial"/>
              </a:rPr>
              <a:t>• Both items are future roadmap capabilities, not current production claims.</a:t>
            </a:r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gsi_openacc.png"/><Relationship Id="rId51" Type="http://schemas.openxmlformats.org/officeDocument/2006/relationships/image" Target="../media/gsi_openhack.png"/><Relationship Id="rId52" Type="http://schemas.openxmlformats.org/officeDocument/2006/relationships/image" Target="../media/gsi_nvidia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SI Blue Rail"/>
          <p:cNvSpPr/>
          <p:nvPr/>
        </p:nvSpPr>
        <p:spPr>
          <a:xfrm>
            <a:off x="0" y="0"/>
            <a:ext cx="95250" cy="5962650"/>
          </a:xfrm>
          <a:prstGeom prst="rect">
            <a:avLst/>
          </a:prstGeom>
          <a:solidFill>
            <a:srgbClr val="1597C5"/>
          </a:solidFill>
          <a:ln>
            <a:noFill/>
          </a:ln>
        </p:spPr>
      </p:sp>
      <p:sp>
        <p:nvSpPr>
          <p:cNvPr id="1002" name="GSI Orange Rail"/>
          <p:cNvSpPr/>
          <p:nvPr/>
        </p:nvSpPr>
        <p:spPr>
          <a:xfrm>
            <a:off x="0" y="5962650"/>
            <a:ext cx="95250" cy="895350"/>
          </a:xfrm>
          <a:prstGeom prst="rect">
            <a:avLst/>
          </a:prstGeom>
          <a:solidFill>
            <a:srgbClr val="F04B23"/>
          </a:solidFill>
          <a:ln>
            <a:noFill/>
          </a:ln>
        </p:spPr>
      </p:sp>
      <p:pic>
        <p:nvPicPr>
          <p:cNvPr id="1003" name="OpenACC Logo" descr="OpenACC logo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28600" y="6515100"/>
            <a:ext cx="628650" cy="209550"/>
          </a:xfrm>
          <a:prstGeom prst="rect">
            <a:avLst/>
          </a:prstGeom>
          <a:ln>
            <a:noFill/>
          </a:ln>
        </p:spPr>
      </p:pic>
      <p:pic>
        <p:nvPicPr>
          <p:cNvPr id="1004" name="Open Hackathons Logo" descr="Open Hackathons logo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33450" y="6457950"/>
            <a:ext cx="838200" cy="266700"/>
          </a:xfrm>
          <a:prstGeom prst="rect">
            <a:avLst/>
          </a:prstGeom>
          <a:ln>
            <a:noFill/>
          </a:ln>
        </p:spPr>
      </p:pic>
      <p:pic>
        <p:nvPicPr>
          <p:cNvPr id="1005" name="NVIDIA Logo" descr="NVIDIA logo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410950" y="6429375"/>
            <a:ext cx="533400" cy="36195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TeamPhoto1" Type="http://schemas.openxmlformats.org/officeDocument/2006/relationships/image" Target="../media/lifeshield-team-1.jpg"/><Relationship Id="rIdTeamPhoto2" Type="http://schemas.openxmlformats.org/officeDocument/2006/relationships/image" Target="../media/lifeshield-team-2.png"/><Relationship Id="rIdTeamPhoto3" Type="http://schemas.openxmlformats.org/officeDocument/2006/relationships/image" Target="../media/lifeshield-team-3.png"/><Relationship Id="rIdTeamPhoto4" Type="http://schemas.openxmlformats.org/officeDocument/2006/relationships/image" Target="../media/lifeshield-team-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0.png"/><Relationship Id="rId18" Type="http://schemas.openxmlformats.org/officeDocument/2006/relationships/image" Target="../media/image9.png"/><Relationship Id="rId26" Type="http://schemas.openxmlformats.org/officeDocument/2006/relationships/image" Target="../media/image38.png"/><Relationship Id="rId3" Type="http://schemas.openxmlformats.org/officeDocument/2006/relationships/image" Target="../media/image11.png"/><Relationship Id="rId21" Type="http://schemas.openxmlformats.org/officeDocument/2006/relationships/image" Target="../media/image35.png"/><Relationship Id="rId7" Type="http://schemas.openxmlformats.org/officeDocument/2006/relationships/image" Target="../media/image26.png"/><Relationship Id="rId12" Type="http://schemas.openxmlformats.org/officeDocument/2006/relationships/image" Target="../media/image7.png"/><Relationship Id="rId17" Type="http://schemas.openxmlformats.org/officeDocument/2006/relationships/image" Target="../media/image6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24" Type="http://schemas.openxmlformats.org/officeDocument/2006/relationships/image" Target="../media/image36.png"/><Relationship Id="rId5" Type="http://schemas.openxmlformats.org/officeDocument/2006/relationships/image" Target="../media/image1.png"/><Relationship Id="rId15" Type="http://schemas.openxmlformats.org/officeDocument/2006/relationships/image" Target="../media/image32.png"/><Relationship Id="rId23" Type="http://schemas.openxmlformats.org/officeDocument/2006/relationships/image" Target="../media/image3.png"/><Relationship Id="rId10" Type="http://schemas.openxmlformats.org/officeDocument/2006/relationships/image" Target="../media/image20.png"/><Relationship Id="rId19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14" Type="http://schemas.openxmlformats.org/officeDocument/2006/relationships/image" Target="../media/image31.png"/><Relationship Id="rId2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8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signin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command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agentic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briefing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portfolio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" Type="http://schemas.openxmlformats.org/officeDocument/2006/relationships/image" Target="../media/appendix-shot-map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0"/>
            <a:ext cx="45720" cy="6858000"/>
          </a:xfrm>
          <a:prstGeom prst="rect">
            <a:avLst/>
          </a:prstGeom>
          <a:solidFill>
            <a:srgbClr val="1597C5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1143000"/>
            <a:ext cx="4297680" cy="4297680"/>
          </a:xfrm>
          <a:prstGeom prst="ellipse">
            <a:avLst/>
          </a:prstGeom>
          <a:ln w="12700">
            <a:solidFill>
              <a:srgbClr val="1597C5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1691640"/>
            <a:ext cx="3200400" cy="3200400"/>
          </a:xfrm>
          <a:prstGeom prst="ellipse">
            <a:avLst/>
          </a:prstGeom>
          <a:ln w="12700">
            <a:solidFill>
              <a:srgbClr val="1597C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240280"/>
            <a:ext cx="2103120" cy="2103120"/>
          </a:xfrm>
          <a:prstGeom prst="ellipse">
            <a:avLst/>
          </a:prstGeom>
          <a:ln w="12700">
            <a:solidFill>
              <a:srgbClr val="1597C5"/>
            </a:solidFill>
            <a:prstDash val="solid"/>
          </a:ln>
        </p:spPr>
      </p:sp>
      <p:pic>
        <p:nvPicPr>
          <p:cNvPr id="7" name="Image 0" descr="/home/claude/icons/water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7889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GSI OPEN HACKATHON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COGNITIVE CORE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33172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AI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NVIDIA-Native Disaster Intelligence &amp; Decision Command System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Evidence-to-decision pipeline for flood disasters — fusing live hazard data, </a:t>
            </a:r>
            <a:r>
              <a:rPr lang="en-US" sz="13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</a:t>
            </a:r>
            <a:r>
              <a:rPr lang="en-US" sz="13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reasoning and vision, and governed guardrails into one auditable pipeline serving four real stakeholders.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7680960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49AC8F5-7900-A6D2-5CD5-D0421BC02050}"/>
              </a:ext>
            </a:extLst>
          </p:cNvPr>
          <p:cNvSpPr txBox="1"/>
          <p:nvPr/>
        </p:nvSpPr>
        <p:spPr>
          <a:xfrm>
            <a:off x="548640" y="4892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  </a:t>
            </a:r>
            <a:r>
              <a:rPr lang="en-US" sz="1050" b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Ramakrishnan Vedanarayanan, Srinivasan D, Kishoor, Badrinath – Tata Consultancy Services</a:t>
            </a:r>
            <a:endParaRPr lang="en-US" sz="105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E777BFB1-76E0-D38E-A5C1-35371136EDA1}"/>
              </a:ext>
            </a:extLst>
          </p:cNvPr>
          <p:cNvSpPr txBox="1"/>
          <p:nvPr/>
        </p:nvSpPr>
        <p:spPr>
          <a:xfrm>
            <a:off x="548640" y="5193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   </a:t>
            </a:r>
            <a:r>
              <a:rPr lang="en-US" sz="1050" b="1" dirty="0" err="1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Mr.Swaminathan</a:t>
            </a:r>
            <a:r>
              <a:rPr lang="en-US" sz="1050" b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NVIDIA</a:t>
            </a:r>
            <a:endParaRPr lang="en-US" sz="1050" dirty="0"/>
          </a:p>
        </p:txBody>
      </p:sp>
      <p:pic>
        <p:nvPicPr>
          <p:cNvPr id="9601" name="Team photo 1" descr="Ramakrishnan V"/>
          <p:cNvPicPr preferRelativeResize="0">
            <a:picLocks noChangeAspect="1"/>
          </p:cNvPicPr>
          <p:nvPr/>
        </p:nvPicPr>
        <p:blipFill rotWithShape="1">
          <a:blip r:embed="rIdTeamPhoto1">
            <a:alphaModFix/>
          </a:blip>
          <a:srcRect b="33359" l="0" r="0" t="0"/>
          <a:stretch/>
        </p:blipFill>
        <p:spPr>
          <a:xfrm>
            <a:off x="548640" y="5630000"/>
            <a:ext cx="750000" cy="750000"/>
          </a:xfrm>
          <a:prstGeom prst="ellipse">
            <a:avLst/>
          </a:prstGeom>
          <a:noFill/>
          <a:ln w="19050">
            <a:solidFill>
              <a:srgbClr val="1597C5"/>
            </a:solidFill>
          </a:ln>
          <a:effectLst>
            <a:outerShdw blurRad="90000" dist="25000" dir="5400000" rotWithShape="0">
              <a:srgbClr val="000000">
                <a:alpha val="20000"/>
              </a:srgbClr>
            </a:outerShdw>
          </a:effectLst>
        </p:spPr>
      </p:pic>
      <p:pic>
        <p:nvPicPr>
          <p:cNvPr id="9602" name="Team photo 2" descr="Srinivasan D"/>
          <p:cNvPicPr preferRelativeResize="0">
            <a:picLocks noChangeAspect="1"/>
          </p:cNvPicPr>
          <p:nvPr/>
        </p:nvPicPr>
        <p:blipFill rotWithShape="1">
          <a:blip r:embed="rIdTeamPhoto2">
            <a:alphaModFix/>
          </a:blip>
          <a:srcRect b="13060" l="0" r="0" t="0"/>
          <a:stretch/>
        </p:blipFill>
        <p:spPr>
          <a:xfrm>
            <a:off x="1468640" y="5630000"/>
            <a:ext cx="750000" cy="750000"/>
          </a:xfrm>
          <a:prstGeom prst="ellipse">
            <a:avLst/>
          </a:prstGeom>
          <a:noFill/>
          <a:ln w="19050">
            <a:solidFill>
              <a:srgbClr val="1597C5"/>
            </a:solidFill>
          </a:ln>
          <a:effectLst>
            <a:outerShdw blurRad="90000" dist="25000" dir="5400000" rotWithShape="0">
              <a:srgbClr val="000000">
                <a:alpha val="20000"/>
              </a:srgbClr>
            </a:outerShdw>
          </a:effectLst>
        </p:spPr>
      </p:pic>
      <p:pic>
        <p:nvPicPr>
          <p:cNvPr id="9603" name="Team photo 3" descr="Kishoor S K"/>
          <p:cNvPicPr preferRelativeResize="0">
            <a:picLocks noChangeAspect="1"/>
          </p:cNvPicPr>
          <p:nvPr/>
        </p:nvPicPr>
        <p:blipFill rotWithShape="1">
          <a:blip r:embed="rIdTeamPhoto3">
            <a:alphaModFix/>
          </a:blip>
          <a:srcRect b="25021" l="0" r="0" t="0"/>
          <a:stretch/>
        </p:blipFill>
        <p:spPr>
          <a:xfrm>
            <a:off x="2388640" y="5630000"/>
            <a:ext cx="750000" cy="750000"/>
          </a:xfrm>
          <a:prstGeom prst="ellipse">
            <a:avLst/>
          </a:prstGeom>
          <a:noFill/>
          <a:ln w="19050">
            <a:solidFill>
              <a:srgbClr val="1597C5"/>
            </a:solidFill>
          </a:ln>
          <a:effectLst>
            <a:outerShdw blurRad="90000" dist="25000" dir="5400000" rotWithShape="0">
              <a:srgbClr val="000000">
                <a:alpha val="20000"/>
              </a:srgbClr>
            </a:outerShdw>
          </a:effectLst>
        </p:spPr>
      </p:pic>
      <p:pic>
        <p:nvPicPr>
          <p:cNvPr id="9604" name="Team photo 4" descr="Badrinaath R"/>
          <p:cNvPicPr preferRelativeResize="0">
            <a:picLocks noChangeAspect="1"/>
          </p:cNvPicPr>
          <p:nvPr/>
        </p:nvPicPr>
        <p:blipFill rotWithShape="1">
          <a:blip r:embed="rIdTeamPhoto4">
            <a:alphaModFix/>
          </a:blip>
          <a:srcRect b="0" l="5000" r="5000" t="0"/>
          <a:stretch/>
        </p:blipFill>
        <p:spPr>
          <a:xfrm>
            <a:off x="3308640" y="5630000"/>
            <a:ext cx="750000" cy="750000"/>
          </a:xfrm>
          <a:prstGeom prst="ellipse">
            <a:avLst/>
          </a:prstGeom>
          <a:noFill/>
          <a:ln w="19050">
            <a:solidFill>
              <a:srgbClr val="1597C5"/>
            </a:solidFill>
          </a:ln>
          <a:effectLst>
            <a:outerShdw blurRad="90000" dist="25000" dir="5400000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16886" y="174650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8" name="Image 0" descr="/home/claude/icons/warn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526" y="1841144"/>
            <a:ext cx="231343" cy="231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1792" y="225856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62432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flood disaster response is one of the world's largest, least-served AI problems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9846" y="160020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04438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504438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399532" y="174650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5" name="Image 1" descr="/home/claude/icons/search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172" y="1841144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04438" y="225856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gaps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3504438" y="262432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 (Google Flood Hub, One Concern, ICEYE...) and what's still missing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22492" y="160020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387084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387084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282178" y="174650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2" name="Image 2" descr="/home/claude/icons/chartlin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818" y="1841144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87084" y="225856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6387084" y="262432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and Total Addressable Market — sized with citations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105138" y="160020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269730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9269730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11164824" y="174650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9" name="Image 3" descr="/home/claude/icons/circlenode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9464" y="1841144"/>
            <a:ext cx="231343" cy="23134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69730" y="225856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9269730" y="262432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architecture, live and running, with every NVIDIA service labeled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384048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1792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621792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2516886" y="398678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36" name="Image 4" descr="/home/claude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1526" y="4081424"/>
            <a:ext cx="231343" cy="231343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21792" y="449884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proof</a:t>
            </a:r>
            <a:endParaRPr lang="en-US" sz="1450" dirty="0"/>
          </a:p>
        </p:txBody>
      </p:sp>
      <p:sp>
        <p:nvSpPr>
          <p:cNvPr id="38" name="Text 31"/>
          <p:cNvSpPr txBox="1"/>
          <p:nvPr/>
        </p:nvSpPr>
        <p:spPr>
          <a:xfrm>
            <a:off x="621792" y="486460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traceability, token/cost tracking, and measured evaluation metrics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339846" y="384048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504438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3504438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5399532" y="398678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43" name="Image 5" descr="/home/claude/icons/microchip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4172" y="4081424"/>
            <a:ext cx="231343" cy="231343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3504438" y="449884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</a:t>
            </a:r>
            <a:endParaRPr lang="en-US" sz="1450" dirty="0"/>
          </a:p>
        </p:txBody>
      </p:sp>
      <p:sp>
        <p:nvSpPr>
          <p:cNvPr id="45" name="Text 37"/>
          <p:cNvSpPr txBox="1"/>
          <p:nvPr/>
        </p:nvSpPr>
        <p:spPr>
          <a:xfrm>
            <a:off x="3504438" y="486460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vs. alternatives — with numbers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222492" y="3840480"/>
            <a:ext cx="262661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387084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48" name="Text 40"/>
          <p:cNvSpPr txBox="1"/>
          <p:nvPr/>
        </p:nvSpPr>
        <p:spPr>
          <a:xfrm>
            <a:off x="6387084" y="3968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49" name="Shape 41"/>
          <p:cNvSpPr/>
          <p:nvPr/>
        </p:nvSpPr>
        <p:spPr>
          <a:xfrm>
            <a:off x="8282178" y="3986784"/>
            <a:ext cx="420624" cy="420624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50" name="Image 6" descr="/home/claude/icons/rocket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6818" y="4081424"/>
            <a:ext cx="231343" cy="231343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387084" y="4498848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scale</a:t>
            </a:r>
            <a:endParaRPr lang="en-US" sz="1450" dirty="0"/>
          </a:p>
        </p:txBody>
      </p:sp>
      <p:sp>
        <p:nvSpPr>
          <p:cNvPr id="52" name="Text 43"/>
          <p:cNvSpPr txBox="1"/>
          <p:nvPr/>
        </p:nvSpPr>
        <p:spPr>
          <a:xfrm>
            <a:off x="6387084" y="4864608"/>
            <a:ext cx="2297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Differentiators, business value, patent strategy, roadmap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AI · NVIDIA GSI OPEN HACKATHON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Flooding is the most frequent, and one of the costliest, disasters on Earth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2647188" cy="1371600"/>
          </a:xfrm>
          <a:prstGeom prst="roundRect">
            <a:avLst>
              <a:gd name="adj" fmla="val 5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5" name="Image 0" descr="/home/claude/icons/dollar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739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011680"/>
            <a:ext cx="23728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$320B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42032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disaster economic losses, 2024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3332988" y="1627632"/>
            <a:ext cx="2647188" cy="1371600"/>
          </a:xfrm>
          <a:prstGeom prst="roundRect">
            <a:avLst>
              <a:gd name="adj" fmla="val 5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9" name="Image 1" descr="/home/claude/icons/us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17739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0148" y="2011680"/>
            <a:ext cx="23728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49M</a:t>
            </a:r>
            <a:endParaRPr lang="en-US" sz="2900" dirty="0"/>
          </a:p>
        </p:txBody>
      </p:sp>
      <p:sp>
        <p:nvSpPr>
          <p:cNvPr id="11" name="Text 7"/>
          <p:cNvSpPr txBox="1"/>
          <p:nvPr/>
        </p:nvSpPr>
        <p:spPr>
          <a:xfrm>
            <a:off x="3470148" y="2542032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affected by floods in 2024 alone — more than any other disaster type</a:t>
            </a:r>
            <a:endParaRPr lang="en-US" sz="870" dirty="0"/>
          </a:p>
        </p:txBody>
      </p:sp>
      <p:sp>
        <p:nvSpPr>
          <p:cNvPr id="12" name="Shape 8"/>
          <p:cNvSpPr/>
          <p:nvPr/>
        </p:nvSpPr>
        <p:spPr>
          <a:xfrm>
            <a:off x="6208776" y="1627632"/>
            <a:ext cx="2647188" cy="1371600"/>
          </a:xfrm>
          <a:prstGeom prst="roundRect">
            <a:avLst>
              <a:gd name="adj" fmla="val 5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3" name="Image 2" descr="/home/claude/icons/chartlin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739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45936" y="2011680"/>
            <a:ext cx="23728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+134%</a:t>
            </a:r>
            <a:endParaRPr lang="en-US" sz="2900" dirty="0"/>
          </a:p>
        </p:txBody>
      </p:sp>
      <p:sp>
        <p:nvSpPr>
          <p:cNvPr id="15" name="Text 10"/>
          <p:cNvSpPr txBox="1"/>
          <p:nvPr/>
        </p:nvSpPr>
        <p:spPr>
          <a:xfrm>
            <a:off x="6345936" y="2542032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in recorded flood-related disasters since 2000 vs. the prior two decades</a:t>
            </a:r>
            <a:endParaRPr lang="en-US" sz="870" dirty="0"/>
          </a:p>
        </p:txBody>
      </p:sp>
      <p:sp>
        <p:nvSpPr>
          <p:cNvPr id="16" name="Shape 11"/>
          <p:cNvSpPr/>
          <p:nvPr/>
        </p:nvSpPr>
        <p:spPr>
          <a:xfrm>
            <a:off x="9084564" y="1627632"/>
            <a:ext cx="2647188" cy="1371600"/>
          </a:xfrm>
          <a:prstGeom prst="roundRect">
            <a:avLst>
              <a:gd name="adj" fmla="val 5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7" name="Image 3" descr="/home/claude/icons/warn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156" y="17739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21724" y="2011680"/>
            <a:ext cx="23728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$424B</a:t>
            </a:r>
            <a:endParaRPr lang="en-US" sz="2900" dirty="0"/>
          </a:p>
        </p:txBody>
      </p:sp>
      <p:sp>
        <p:nvSpPr>
          <p:cNvPr id="19" name="Text 13"/>
          <p:cNvSpPr txBox="1"/>
          <p:nvPr/>
        </p:nvSpPr>
        <p:spPr>
          <a:xfrm>
            <a:off x="9221724" y="2542032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natural-catastrophe insurance protection gap</a:t>
            </a:r>
            <a:endParaRPr lang="en-US" sz="87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keeps getting worse, not better: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3602736"/>
            <a:ext cx="201168" cy="201168"/>
          </a:xfrm>
          <a:prstGeom prst="ellipse">
            <a:avLst/>
          </a:prstGeom>
          <a:solidFill>
            <a:srgbClr val="141A21"/>
          </a:solidFill>
          <a:ln w="9525">
            <a:solidFill>
              <a:srgbClr val="1597C5"/>
            </a:solidFill>
            <a:prstDash val="solid"/>
          </a:ln>
        </p:spPr>
      </p:sp>
      <p:pic>
        <p:nvPicPr>
          <p:cNvPr id="22" name="Image 4" descr="/home/claude/icons/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" y="3643884"/>
            <a:ext cx="118872" cy="1188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7240" y="3557016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volatility.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Warmer air holds more moisture — extreme rainfall events are becoming both more frequent and more intense across every region this app targets (US Gulf Coast, South India tech corridors).</a:t>
            </a:r>
            <a:endParaRPr lang="en-US" sz="930" dirty="0"/>
          </a:p>
        </p:txBody>
      </p:sp>
      <p:sp>
        <p:nvSpPr>
          <p:cNvPr id="24" name="Shape 17"/>
          <p:cNvSpPr/>
          <p:nvPr/>
        </p:nvSpPr>
        <p:spPr>
          <a:xfrm>
            <a:off x="457200" y="4165092"/>
            <a:ext cx="201168" cy="201168"/>
          </a:xfrm>
          <a:prstGeom prst="ellipse">
            <a:avLst/>
          </a:prstGeom>
          <a:solidFill>
            <a:srgbClr val="141A21"/>
          </a:solidFill>
          <a:ln w="9525">
            <a:solidFill>
              <a:srgbClr val="1597C5"/>
            </a:solidFill>
            <a:prstDash val="solid"/>
          </a:ln>
        </p:spPr>
      </p:sp>
      <p:pic>
        <p:nvPicPr>
          <p:cNvPr id="25" name="Image 5" descr="/home/claude/icons/landmar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" y="4206240"/>
            <a:ext cx="118872" cy="11887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7240" y="4119372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Urbanization outpaces infrastructure.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exposure has climbed from 28.1M people (1970) to 35.1M (2020) — a +24.9% rise — as cities grow into floodplains faster than drainage/response systems scale.</a:t>
            </a:r>
            <a:endParaRPr lang="en-US" sz="930" dirty="0"/>
          </a:p>
        </p:txBody>
      </p:sp>
      <p:sp>
        <p:nvSpPr>
          <p:cNvPr id="27" name="Shape 19"/>
          <p:cNvSpPr/>
          <p:nvPr/>
        </p:nvSpPr>
        <p:spPr>
          <a:xfrm>
            <a:off x="457200" y="4727448"/>
            <a:ext cx="201168" cy="201168"/>
          </a:xfrm>
          <a:prstGeom prst="ellipse">
            <a:avLst/>
          </a:prstGeom>
          <a:solidFill>
            <a:srgbClr val="141A21"/>
          </a:solidFill>
          <a:ln w="9525">
            <a:solidFill>
              <a:srgbClr val="1597C5"/>
            </a:solidFill>
            <a:prstDash val="solid"/>
          </a:ln>
        </p:spPr>
      </p:sp>
      <p:pic>
        <p:nvPicPr>
          <p:cNvPr id="28" name="Image 6" descr="/home/claude/icons/gaug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" y="4768596"/>
            <a:ext cx="118872" cy="11887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77240" y="4681728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still take too long.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Life-safety and evacuation calls today depend on a human manually reading five disconnected data feeds under time pressure — the actual bottleneck this project targets.</a:t>
            </a:r>
            <a:endParaRPr lang="en-US" sz="930" dirty="0"/>
          </a:p>
        </p:txBody>
      </p:sp>
      <p:sp>
        <p:nvSpPr>
          <p:cNvPr id="30" name="Shape 21"/>
          <p:cNvSpPr/>
          <p:nvPr/>
        </p:nvSpPr>
        <p:spPr>
          <a:xfrm>
            <a:off x="457200" y="5289804"/>
            <a:ext cx="201168" cy="201168"/>
          </a:xfrm>
          <a:prstGeom prst="ellipse">
            <a:avLst/>
          </a:prstGeom>
          <a:solidFill>
            <a:srgbClr val="141A21"/>
          </a:solidFill>
          <a:ln w="9525">
            <a:solidFill>
              <a:srgbClr val="1597C5"/>
            </a:solidFill>
            <a:prstDash val="solid"/>
          </a:ln>
        </p:spPr>
      </p:sp>
      <p:pic>
        <p:nvPicPr>
          <p:cNvPr id="31" name="Image 7" descr="/home/claude/icons/scale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" y="5330952"/>
            <a:ext cx="118872" cy="11887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77240" y="5244084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protection gap is a trust/latency gap, not a capital gap.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Insurers and governments have the money to act — they don't have a fast, trustworthy way to fuse evidence into a decision in minutes, not hours.</a:t>
            </a:r>
            <a:endParaRPr lang="en-US" sz="930" dirty="0"/>
          </a:p>
        </p:txBody>
      </p:sp>
      <p:sp>
        <p:nvSpPr>
          <p:cNvPr id="33" name="Shape 23"/>
          <p:cNvSpPr/>
          <p:nvPr/>
        </p:nvSpPr>
        <p:spPr>
          <a:xfrm>
            <a:off x="457200" y="5852160"/>
            <a:ext cx="201168" cy="201168"/>
          </a:xfrm>
          <a:prstGeom prst="ellipse">
            <a:avLst/>
          </a:prstGeom>
          <a:solidFill>
            <a:srgbClr val="141A21"/>
          </a:solidFill>
          <a:ln w="9525">
            <a:solidFill>
              <a:srgbClr val="1597C5"/>
            </a:solidFill>
            <a:prstDash val="solid"/>
          </a:ln>
        </p:spPr>
      </p:sp>
      <p:pic>
        <p:nvPicPr>
          <p:cNvPr id="34" name="Image 8" descr="/home/claude/icons/user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" y="5893308"/>
            <a:ext cx="118872" cy="11887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77240" y="580644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hits the most vulnerable hardest.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emerging markets, 80–90% of catastrophe losses are uninsured; in Asia specifically, only ~7% of flood economic losses are covered — vs. 34% in advanced economies.</a:t>
            </a:r>
            <a:endParaRPr lang="en-US" sz="930" dirty="0"/>
          </a:p>
        </p:txBody>
      </p:sp>
      <p:sp>
        <p:nvSpPr>
          <p:cNvPr id="36" name="Shape 25"/>
          <p:cNvSpPr/>
          <p:nvPr/>
        </p:nvSpPr>
        <p:spPr>
          <a:xfrm>
            <a:off x="7955280" y="3566160"/>
            <a:ext cx="3749040" cy="2514600"/>
          </a:xfrm>
          <a:prstGeom prst="roundRect">
            <a:avLst>
              <a:gd name="adj" fmla="val 2909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81381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EXPOSURE, GLOBAL POPULATION</a:t>
            </a:r>
            <a:endParaRPr lang="en-US" sz="9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8092440" y="4023360"/>
          <a:ext cx="34747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9" name="Text 27"/>
          <p:cNvSpPr txBox="1"/>
          <p:nvPr/>
        </p:nvSpPr>
        <p:spPr>
          <a:xfrm>
            <a:off x="8138160" y="5760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+24.9% since 1970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Aon 2024 Global Catastrophe Recap · Munich Re 2024 disaster loss estimate ($320B) · EM-DAT/CRED 2024 Report (49M people, +134% events) · Swiss Re Institute sigma research (protection gap, regional coverage) · World Bank "People in Harm's Way: Flood Exposure and Poverty in 189 Countries"</a:t>
            </a:r>
            <a:endParaRPr lang="en-US" sz="7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 ·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and economic cost compounds every year it isn't solved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4663440" cy="2834640"/>
          </a:xfrm>
          <a:prstGeom prst="roundRect">
            <a:avLst>
              <a:gd name="adj" fmla="val 258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INSURED LOSSES FROM FLOODS &amp; STORMS ($B)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130552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840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Swiss Re's own long-term trend — every year without faster, more trustworthy decision-support compounds this curve, for governments issuing warnings AND insurers pricing/paying claims.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394960" y="1627632"/>
            <a:ext cx="6336792" cy="658368"/>
          </a:xfrm>
          <a:prstGeom prst="roundRect">
            <a:avLst>
              <a:gd name="adj" fmla="val 8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41264" y="1700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682496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flood losses over the last decade were uninsured — the single largest line item in the world's insurance protection gap.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394960" y="2414016"/>
            <a:ext cx="6336792" cy="658368"/>
          </a:xfrm>
          <a:prstGeom prst="roundRect">
            <a:avLst>
              <a:gd name="adj" fmla="val 8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41264" y="24871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~$85B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468880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economic losses from floods alone — third only to convective storms and earthquakes among all disaster types.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5394960" y="3200400"/>
            <a:ext cx="6336792" cy="658368"/>
          </a:xfrm>
          <a:prstGeom prst="roundRect">
            <a:avLst>
              <a:gd name="adj" fmla="val 8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41264" y="32735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38.9%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255264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for flood-detection software — flood insurance (20.7%) and flood-warning systems (12%) are also growing double digits; the market is voting with capital that this is unsolved.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394960" y="3986784"/>
            <a:ext cx="6336792" cy="658368"/>
          </a:xfrm>
          <a:prstGeom prst="roundRect">
            <a:avLst>
              <a:gd name="adj" fmla="val 833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41264" y="4059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4041648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affected by disasters worldwide in extreme years (100M+ in an average year), per EM-DAT — this is not a niche problem.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457200" y="47091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" y="4864608"/>
            <a:ext cx="457200" cy="45720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22" name="Image 0" descr="/home/claude/icons/earth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95604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47091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disproportionately a Global South problem.  </a:t>
            </a:r>
            <a:r>
              <a:rPr lang="en-US" sz="10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regions this project explicitly targets (Chennai, Bengaluru) alongside the US (Houston) sit at the center of the world's flood-insurance coverage gap, not its edge.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Swiss Re Institute, sigma research (2025–2026 insured-loss projections, protection gap) · Statista (2023 flood economic losses) · Verified Market Research / Market Research Future / Grand View Insights (flood insurance, warning, detection market CAGRs) · EM-DAT 2024 Report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 — and the gap each one leaves 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4552" cy="384048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916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WELL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691640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IT LEAVES OPEN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1274552" cy="77724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0756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Flood Hub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7568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AI river/flash-flood forecasts, 2B people across 150+ countries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075688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only — no exposure math, no evacuation routing, no insurer workflow, no human-approval audit trail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1274552" cy="77724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8529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Concern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8529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"digital twin" disaster simulation, $150M+ raised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852928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Pre-event risk scoring — not a live, evidence-fused, in-the-moment decision pipeline with guardrails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11274552" cy="77724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301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Floodbase (fka Cloud to Street)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6301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flood detection for parametric insurance triggers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630168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Narrow: payout triggers only — no life-safety guidance, no multi-persona command interface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11274552" cy="77724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40740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ICEYE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4074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satellite constellation, real-time flood imagery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4407408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provider, not a decision layer — still requires a human to fuse it with everything else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5184648"/>
            <a:ext cx="11274552" cy="77724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184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cat-modeling software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1846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actuarial loss modeling ($1.82B market)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5184648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 / pricing-cycle tool — not built for real-time, in-event life-safety decisions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57200" y="1691640"/>
            <a:ext cx="11274552" cy="4270248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Google (blog.google flood forecasting posts, cities.google/flood-hub) · Netzero Insights &amp; Mercy Corps (One Concern, Floodbase funding) · ICEYE newsroom (Series E, $65M, Dec 2024) · GrowthMarketReports (catastrophe modeling software, $1.82B 2024)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LANDSCAPE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and Total Addressable Market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47188" cy="1051560"/>
          </a:xfrm>
          <a:prstGeom prst="roundRect">
            <a:avLst>
              <a:gd name="adj" fmla="val 695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73736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land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5" y="182377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664208"/>
            <a:ext cx="186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/ NDMA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176272"/>
            <a:ext cx="23545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2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officers, emergency management agencies — public-safety liability, evacuation authority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3332988" y="1572768"/>
            <a:ext cx="2647188" cy="1051560"/>
          </a:xfrm>
          <a:prstGeom prst="roundRect">
            <a:avLst>
              <a:gd name="adj" fmla="val 695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9292" y="173736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1" name="Image 1" descr="/home/claude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703" y="1823771"/>
            <a:ext cx="211226" cy="2112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4780" y="1664208"/>
            <a:ext cx="186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479292" y="2176272"/>
            <a:ext cx="23545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2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Underwriters, portfolio &amp; claims teams — loss-ratio, exposure triage, faster claims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6208776" y="1572768"/>
            <a:ext cx="2647188" cy="1051560"/>
          </a:xfrm>
          <a:prstGeom prst="roundRect">
            <a:avLst>
              <a:gd name="adj" fmla="val 695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6" name="Image 2" descr="/home/claude/icons/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491" y="1823771"/>
            <a:ext cx="211226" cy="2112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30568" y="1664208"/>
            <a:ext cx="186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Response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176272"/>
            <a:ext cx="23545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2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responders, dispatchers — one instruction, one route, in real time</a:t>
            </a:r>
            <a:endParaRPr lang="en-US" sz="820" dirty="0"/>
          </a:p>
        </p:txBody>
      </p:sp>
      <p:sp>
        <p:nvSpPr>
          <p:cNvPr id="19" name="Shape 14"/>
          <p:cNvSpPr/>
          <p:nvPr/>
        </p:nvSpPr>
        <p:spPr>
          <a:xfrm>
            <a:off x="9084564" y="1572768"/>
            <a:ext cx="2647188" cy="1051560"/>
          </a:xfrm>
          <a:prstGeom prst="roundRect">
            <a:avLst>
              <a:gd name="adj" fmla="val 695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0868" y="173736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1" name="Image 3" descr="/home/claude/icons/userti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279" y="1823771"/>
            <a:ext cx="211226" cy="2112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06356" y="1664208"/>
            <a:ext cx="186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/ Leadership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9230868" y="2176272"/>
            <a:ext cx="23545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2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City/agency leadership, boards — a decision in four sentences, not a dashboard</a:t>
            </a:r>
            <a:endParaRPr lang="en-US" sz="82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2852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 — layered, and every layer is real spend today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7200" y="3246120"/>
            <a:ext cx="5989320" cy="3063240"/>
          </a:xfrm>
          <a:prstGeom prst="roundRect">
            <a:avLst>
              <a:gd name="adj" fmla="val 2388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0080" y="3374136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BY SEGMENT — 2024 SIZE VS. FORECAST ($B)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40080" y="3703320"/>
          <a:ext cx="56235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Shape 21"/>
          <p:cNvSpPr/>
          <p:nvPr/>
        </p:nvSpPr>
        <p:spPr>
          <a:xfrm>
            <a:off x="6656832" y="3246120"/>
            <a:ext cx="5074920" cy="329184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748272" y="3246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8622792" y="32461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9765792" y="3246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11228832" y="32461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656832" y="3575304"/>
            <a:ext cx="5074920" cy="50292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748272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&amp; Emergency Mgmt</a:t>
            </a:r>
            <a:endParaRPr lang="en-US" sz="860" dirty="0"/>
          </a:p>
        </p:txBody>
      </p:sp>
      <p:sp>
        <p:nvSpPr>
          <p:cNvPr id="35" name="Text 28"/>
          <p:cNvSpPr txBox="1"/>
          <p:nvPr/>
        </p:nvSpPr>
        <p:spPr>
          <a:xfrm>
            <a:off x="8622792" y="35753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$137.5B</a:t>
            </a:r>
            <a:endParaRPr lang="en-US" sz="860" dirty="0"/>
          </a:p>
        </p:txBody>
      </p:sp>
      <p:sp>
        <p:nvSpPr>
          <p:cNvPr id="36" name="Text 29"/>
          <p:cNvSpPr txBox="1"/>
          <p:nvPr/>
        </p:nvSpPr>
        <p:spPr>
          <a:xfrm>
            <a:off x="9765792" y="35753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$196.2B by 2030</a:t>
            </a:r>
            <a:endParaRPr lang="en-US" sz="860" dirty="0"/>
          </a:p>
        </p:txBody>
      </p:sp>
      <p:sp>
        <p:nvSpPr>
          <p:cNvPr id="37" name="Text 30"/>
          <p:cNvSpPr txBox="1"/>
          <p:nvPr/>
        </p:nvSpPr>
        <p:spPr>
          <a:xfrm>
            <a:off x="11228832" y="35753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860" dirty="0"/>
          </a:p>
        </p:txBody>
      </p:sp>
      <p:sp>
        <p:nvSpPr>
          <p:cNvPr id="38" name="Shape 31"/>
          <p:cNvSpPr/>
          <p:nvPr/>
        </p:nvSpPr>
        <p:spPr>
          <a:xfrm>
            <a:off x="6656832" y="4078224"/>
            <a:ext cx="5074920" cy="50292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6748272" y="40782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Insurance</a:t>
            </a:r>
            <a:endParaRPr lang="en-US" sz="860" dirty="0"/>
          </a:p>
        </p:txBody>
      </p:sp>
      <p:sp>
        <p:nvSpPr>
          <p:cNvPr id="40" name="Text 33"/>
          <p:cNvSpPr txBox="1"/>
          <p:nvPr/>
        </p:nvSpPr>
        <p:spPr>
          <a:xfrm>
            <a:off x="8622792" y="4078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$17.5B (2026)</a:t>
            </a:r>
            <a:endParaRPr lang="en-US" sz="860" dirty="0"/>
          </a:p>
        </p:txBody>
      </p:sp>
      <p:sp>
        <p:nvSpPr>
          <p:cNvPr id="41" name="Text 34"/>
          <p:cNvSpPr txBox="1"/>
          <p:nvPr/>
        </p:nvSpPr>
        <p:spPr>
          <a:xfrm>
            <a:off x="9765792" y="40782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$37.1B by 2030</a:t>
            </a:r>
            <a:endParaRPr lang="en-US" sz="860" dirty="0"/>
          </a:p>
        </p:txBody>
      </p:sp>
      <p:sp>
        <p:nvSpPr>
          <p:cNvPr id="42" name="Text 35"/>
          <p:cNvSpPr txBox="1"/>
          <p:nvPr/>
        </p:nvSpPr>
        <p:spPr>
          <a:xfrm>
            <a:off x="11228832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860" dirty="0"/>
          </a:p>
        </p:txBody>
      </p:sp>
      <p:sp>
        <p:nvSpPr>
          <p:cNvPr id="43" name="Shape 36"/>
          <p:cNvSpPr/>
          <p:nvPr/>
        </p:nvSpPr>
        <p:spPr>
          <a:xfrm>
            <a:off x="6656832" y="4581144"/>
            <a:ext cx="5074920" cy="50292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6748272" y="45811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Insurance</a:t>
            </a:r>
            <a:endParaRPr lang="en-US" sz="860" dirty="0"/>
          </a:p>
        </p:txBody>
      </p:sp>
      <p:sp>
        <p:nvSpPr>
          <p:cNvPr id="45" name="Text 38"/>
          <p:cNvSpPr txBox="1"/>
          <p:nvPr/>
        </p:nvSpPr>
        <p:spPr>
          <a:xfrm>
            <a:off x="8622792" y="45811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$8.99–11.3B</a:t>
            </a:r>
            <a:endParaRPr lang="en-US" sz="860" dirty="0"/>
          </a:p>
        </p:txBody>
      </p:sp>
      <p:sp>
        <p:nvSpPr>
          <p:cNvPr id="46" name="Text 39"/>
          <p:cNvSpPr txBox="1"/>
          <p:nvPr/>
        </p:nvSpPr>
        <p:spPr>
          <a:xfrm>
            <a:off x="9765792" y="4581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$93.9B by 2035</a:t>
            </a:r>
            <a:endParaRPr lang="en-US" sz="860" dirty="0"/>
          </a:p>
        </p:txBody>
      </p:sp>
      <p:sp>
        <p:nvSpPr>
          <p:cNvPr id="47" name="Text 40"/>
          <p:cNvSpPr txBox="1"/>
          <p:nvPr/>
        </p:nvSpPr>
        <p:spPr>
          <a:xfrm>
            <a:off x="11228832" y="45811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860" dirty="0"/>
          </a:p>
        </p:txBody>
      </p:sp>
      <p:sp>
        <p:nvSpPr>
          <p:cNvPr id="48" name="Shape 41"/>
          <p:cNvSpPr/>
          <p:nvPr/>
        </p:nvSpPr>
        <p:spPr>
          <a:xfrm>
            <a:off x="6656832" y="5084064"/>
            <a:ext cx="5074920" cy="50292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748272" y="5084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Cat. Modeling Software</a:t>
            </a:r>
            <a:endParaRPr lang="en-US" sz="860" dirty="0"/>
          </a:p>
        </p:txBody>
      </p:sp>
      <p:sp>
        <p:nvSpPr>
          <p:cNvPr id="50" name="Text 43"/>
          <p:cNvSpPr txBox="1"/>
          <p:nvPr/>
        </p:nvSpPr>
        <p:spPr>
          <a:xfrm>
            <a:off x="8622792" y="50840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$1.82B</a:t>
            </a:r>
            <a:endParaRPr lang="en-US" sz="860" dirty="0"/>
          </a:p>
        </p:txBody>
      </p:sp>
      <p:sp>
        <p:nvSpPr>
          <p:cNvPr id="51" name="Text 44"/>
          <p:cNvSpPr txBox="1"/>
          <p:nvPr/>
        </p:nvSpPr>
        <p:spPr>
          <a:xfrm>
            <a:off x="9765792" y="5084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$3.85B by 2033</a:t>
            </a:r>
            <a:endParaRPr lang="en-US" sz="860" dirty="0"/>
          </a:p>
        </p:txBody>
      </p:sp>
      <p:sp>
        <p:nvSpPr>
          <p:cNvPr id="52" name="Text 45"/>
          <p:cNvSpPr txBox="1"/>
          <p:nvPr/>
        </p:nvSpPr>
        <p:spPr>
          <a:xfrm>
            <a:off x="11228832" y="50840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6656832" y="5586984"/>
            <a:ext cx="5074920" cy="50292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6748272" y="55869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Warning Systems</a:t>
            </a:r>
            <a:endParaRPr lang="en-US" sz="860" dirty="0"/>
          </a:p>
        </p:txBody>
      </p:sp>
      <p:sp>
        <p:nvSpPr>
          <p:cNvPr id="55" name="Text 48"/>
          <p:cNvSpPr txBox="1"/>
          <p:nvPr/>
        </p:nvSpPr>
        <p:spPr>
          <a:xfrm>
            <a:off x="8622792" y="55869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$3.5B</a:t>
            </a:r>
            <a:endParaRPr lang="en-US" sz="860" dirty="0"/>
          </a:p>
        </p:txBody>
      </p:sp>
      <p:sp>
        <p:nvSpPr>
          <p:cNvPr id="56" name="Text 49"/>
          <p:cNvSpPr txBox="1"/>
          <p:nvPr/>
        </p:nvSpPr>
        <p:spPr>
          <a:xfrm>
            <a:off x="9765792" y="558698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$9.0B by 2032</a:t>
            </a:r>
            <a:endParaRPr lang="en-US" sz="860" dirty="0"/>
          </a:p>
        </p:txBody>
      </p:sp>
      <p:sp>
        <p:nvSpPr>
          <p:cNvPr id="57" name="Text 50"/>
          <p:cNvSpPr txBox="1"/>
          <p:nvPr/>
        </p:nvSpPr>
        <p:spPr>
          <a:xfrm>
            <a:off x="11228832" y="55869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860" dirty="0"/>
          </a:p>
        </p:txBody>
      </p:sp>
      <p:sp>
        <p:nvSpPr>
          <p:cNvPr id="58" name="Shape 51"/>
          <p:cNvSpPr/>
          <p:nvPr/>
        </p:nvSpPr>
        <p:spPr>
          <a:xfrm>
            <a:off x="6656832" y="3246120"/>
            <a:ext cx="5074920" cy="2843784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MarketsandMarkets / GlobeNewswire (Incident &amp; Emergency Mgmt) · ResearchAndMarkets/GMInsights (Flood Insurance) · MarketResearchFuture (AI Insurtech) · GrowthMarketReports (Catastrophe Modeling) · MarketResearchFuture (Flood Warning Systems)</a:t>
            </a:r>
            <a:endParaRPr lang="en-US" sz="700" dirty="0"/>
          </a:p>
        </p:txBody>
      </p:sp>
      <p:sp>
        <p:nvSpPr>
          <p:cNvPr id="60" name="Text 5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AI: one pipeline, four real front doors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evidence layer feeds a governed NVIDIA reasoning pipeline that produces life-safety guidance, insurer exposure, an evacuation plan, and a forward risk forecast — every model call checked, traced, and benchmarked.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47188" cy="1737360"/>
          </a:xfrm>
          <a:prstGeom prst="roundRect">
            <a:avLst>
              <a:gd name="adj" fmla="val 4211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9042" y="2167128"/>
            <a:ext cx="603504" cy="603504"/>
          </a:xfrm>
          <a:prstGeom prst="ellipse">
            <a:avLst/>
          </a:prstGeom>
          <a:solidFill>
            <a:srgbClr val="1597C5"/>
          </a:solidFill>
          <a:ln/>
        </p:spPr>
      </p:sp>
      <p:pic>
        <p:nvPicPr>
          <p:cNvPr id="7" name="Image 0" descr="/home/claude/icons/databas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30" y="2302916"/>
            <a:ext cx="331927" cy="3319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880360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200400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live evidence adapters (weather, gauges, road incidents, federal declarations, population risk, shelters) into one auditable bundle</a:t>
            </a:r>
            <a:endParaRPr lang="en-US" sz="900" dirty="0"/>
          </a:p>
        </p:txBody>
      </p:sp>
      <p:pic>
        <p:nvPicPr>
          <p:cNvPr id="10" name="Image 1" descr="/home/claude/icons/chevron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75234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2988" y="1965960"/>
            <a:ext cx="2647188" cy="1737360"/>
          </a:xfrm>
          <a:prstGeom prst="roundRect">
            <a:avLst>
              <a:gd name="adj" fmla="val 4211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54830" y="2167128"/>
            <a:ext cx="603504" cy="603504"/>
          </a:xfrm>
          <a:prstGeom prst="ellipse">
            <a:avLst/>
          </a:prstGeom>
          <a:solidFill>
            <a:srgbClr val="1597C5"/>
          </a:solidFill>
          <a:ln/>
        </p:spPr>
      </p:sp>
      <p:pic>
        <p:nvPicPr>
          <p:cNvPr id="13" name="Image 2" descr="/home/claude/icons/brain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618" y="2302916"/>
            <a:ext cx="331927" cy="3319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0148" y="2880360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97580" y="3200400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decision gates + 5 parallel outputs — AI narrates, deterministic math computes every number that matters</a:t>
            </a:r>
            <a:endParaRPr lang="en-US" sz="900" dirty="0"/>
          </a:p>
        </p:txBody>
      </p:sp>
      <p:pic>
        <p:nvPicPr>
          <p:cNvPr id="16" name="Image 3" descr="/home/claude/icons/chevron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752344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08776" y="1965960"/>
            <a:ext cx="2647188" cy="1737360"/>
          </a:xfrm>
          <a:prstGeom prst="roundRect">
            <a:avLst>
              <a:gd name="adj" fmla="val 4211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30618" y="2167128"/>
            <a:ext cx="603504" cy="603504"/>
          </a:xfrm>
          <a:prstGeom prst="ellipse">
            <a:avLst/>
          </a:prstGeom>
          <a:solidFill>
            <a:srgbClr val="1597C5"/>
          </a:solidFill>
          <a:ln/>
        </p:spPr>
      </p:sp>
      <p:pic>
        <p:nvPicPr>
          <p:cNvPr id="19" name="Image 4" descr="/home/claude/icons/lock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406" y="2302916"/>
            <a:ext cx="331927" cy="33192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45936" y="2880360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373368" y="3200400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checks every generated claim against source evidence;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traces every call</a:t>
            </a:r>
            <a:endParaRPr lang="en-US" sz="900" dirty="0"/>
          </a:p>
        </p:txBody>
      </p:sp>
      <p:pic>
        <p:nvPicPr>
          <p:cNvPr id="22" name="Image 5" descr="/home/claude/icons/chevron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2752344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84564" y="1965960"/>
            <a:ext cx="2647188" cy="1737360"/>
          </a:xfrm>
          <a:prstGeom prst="roundRect">
            <a:avLst>
              <a:gd name="adj" fmla="val 4211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0106406" y="2167128"/>
            <a:ext cx="603504" cy="603504"/>
          </a:xfrm>
          <a:prstGeom prst="ellipse">
            <a:avLst/>
          </a:prstGeom>
          <a:solidFill>
            <a:srgbClr val="1597C5"/>
          </a:solidFill>
          <a:ln/>
        </p:spPr>
      </p:sp>
      <p:pic>
        <p:nvPicPr>
          <p:cNvPr id="25" name="Image 6" descr="/home/claude/icons/checkcircle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2194" y="2302916"/>
            <a:ext cx="331927" cy="33192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21724" y="2880360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9249156" y="3200400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NeMo Evaluator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benchmarks retrieval + narrative quality against a hand-labeled golden set — a measured answer, not a claim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LIVE, TONIGHT, NOT CLAIMED: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57200" y="4297680"/>
            <a:ext cx="3605784" cy="1508760"/>
          </a:xfrm>
          <a:prstGeom prst="roundRect">
            <a:avLst>
              <a:gd name="adj" fmla="val 4242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30" name="Image 7" descr="/home/claude/icons/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4434840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03504" y="4709160"/>
            <a:ext cx="3313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Full Houston run completed end-to-end in 152s against the real </a:t>
            </a:r>
            <a:r>
              <a:rPr lang="en-US" sz="93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API</a:t>
            </a: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gates, life-safety, exposure ($996K / 5 policies), a 3-route evacuation plan, and a forward-risk forecast, all populated correctly.</a:t>
            </a:r>
            <a:endParaRPr lang="en-US" sz="930" dirty="0"/>
          </a:p>
        </p:txBody>
      </p:sp>
      <p:sp>
        <p:nvSpPr>
          <p:cNvPr id="32" name="Shape 22"/>
          <p:cNvSpPr/>
          <p:nvPr/>
        </p:nvSpPr>
        <p:spPr>
          <a:xfrm>
            <a:off x="4291584" y="4297680"/>
            <a:ext cx="3605784" cy="1508760"/>
          </a:xfrm>
          <a:prstGeom prst="roundRect">
            <a:avLst>
              <a:gd name="adj" fmla="val 4242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33" name="Image 8" descr="/home/claude/icons/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7888" y="4434840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437888" y="4709160"/>
            <a:ext cx="3313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grounding guardrail caught and demoted an actually-unsupported claim  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live narrative — not a scripted failure.</a:t>
            </a:r>
            <a:endParaRPr lang="en-US" sz="930" dirty="0"/>
          </a:p>
        </p:txBody>
      </p:sp>
      <p:sp>
        <p:nvSpPr>
          <p:cNvPr id="35" name="Shape 24"/>
          <p:cNvSpPr/>
          <p:nvPr/>
        </p:nvSpPr>
        <p:spPr>
          <a:xfrm>
            <a:off x="8125968" y="4297680"/>
            <a:ext cx="3605784" cy="1508760"/>
          </a:xfrm>
          <a:prstGeom prst="roundRect">
            <a:avLst>
              <a:gd name="adj" fmla="val 4242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36" name="Image 9" descr="/home/claude/icons/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272" y="4434840"/>
            <a:ext cx="219456" cy="21945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272272" y="4709160"/>
            <a:ext cx="3313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retrieval-quality fix  </a:t>
            </a:r>
            <a:r>
              <a:rPr lang="en-US" sz="93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Evaluator</a:t>
            </a: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benchmark went from 0.32 to 0.71 precision after a root-caused, code-level fix.</a:t>
            </a:r>
            <a:endParaRPr lang="en-US" sz="930" dirty="0"/>
          </a:p>
        </p:txBody>
      </p:sp>
      <p:sp>
        <p:nvSpPr>
          <p:cNvPr id="38" name="Text 2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— every box is real, running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006840" y="329184"/>
            <a:ext cx="2724912" cy="621792"/>
          </a:xfrm>
          <a:prstGeom prst="roundRect">
            <a:avLst>
              <a:gd name="adj" fmla="val 882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71432" y="42062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79992" y="4160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409176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math — never an LLM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9171432" y="694944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79992" y="6903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9409176" y="6583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NVIDIA-hosted model call, guardrail-checked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2984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LAYER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74520" y="1353312"/>
            <a:ext cx="0" cy="603504"/>
          </a:xfrm>
          <a:prstGeom prst="line">
            <a:avLst/>
          </a:prstGeom>
          <a:noFill/>
          <a:ln w="12700">
            <a:solidFill>
              <a:srgbClr val="263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298448"/>
            <a:ext cx="9765792" cy="713232"/>
          </a:xfrm>
          <a:prstGeom prst="roundRect">
            <a:avLst>
              <a:gd name="adj" fmla="val 6410"/>
            </a:avLst>
          </a:prstGeom>
          <a:solidFill>
            <a:srgbClr val="141A21"/>
          </a:solidFill>
          <a:ln w="9525">
            <a:solidFill>
              <a:srgbClr val="2633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48256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6" name="Image 0" descr="/home/claude/icons/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536192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432304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NWS / IMD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3203143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11703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454603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1" name="Image 1" descr="/home/claude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153619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838651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/ CWC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609490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18050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860950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6" name="Image 2" descr="/home/claude/icons/water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390" y="153619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44998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HCFCD</a:t>
            </a:r>
            <a:endParaRPr lang="en-US" sz="730" dirty="0"/>
          </a:p>
        </p:txBody>
      </p:sp>
      <p:sp>
        <p:nvSpPr>
          <p:cNvPr id="28" name="Shape 23"/>
          <p:cNvSpPr/>
          <p:nvPr/>
        </p:nvSpPr>
        <p:spPr>
          <a:xfrm>
            <a:off x="6015838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924398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267298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31" name="Image 3" descr="/home/claude/icons/ro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738" y="153619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651346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TranStar</a:t>
            </a:r>
            <a:endParaRPr lang="en-US" sz="730" dirty="0"/>
          </a:p>
        </p:txBody>
      </p:sp>
      <p:sp>
        <p:nvSpPr>
          <p:cNvPr id="33" name="Shape 27"/>
          <p:cNvSpPr/>
          <p:nvPr/>
        </p:nvSpPr>
        <p:spPr>
          <a:xfrm>
            <a:off x="7422185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330745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7673645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36" name="Image 4" descr="/home/claude/icons/fema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5085" y="1536192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057693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</a:t>
            </a:r>
            <a:endParaRPr lang="en-US" sz="730" dirty="0"/>
          </a:p>
        </p:txBody>
      </p:sp>
      <p:sp>
        <p:nvSpPr>
          <p:cNvPr id="38" name="Shape 31"/>
          <p:cNvSpPr/>
          <p:nvPr/>
        </p:nvSpPr>
        <p:spPr>
          <a:xfrm>
            <a:off x="8828532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737092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9079992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41" name="Image 5" descr="/home/claude/icons/popgrou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1536192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464040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/ SVI</a:t>
            </a:r>
            <a:endParaRPr lang="en-US" sz="730" dirty="0"/>
          </a:p>
        </p:txBody>
      </p:sp>
      <p:sp>
        <p:nvSpPr>
          <p:cNvPr id="43" name="Shape 35"/>
          <p:cNvSpPr/>
          <p:nvPr/>
        </p:nvSpPr>
        <p:spPr>
          <a:xfrm>
            <a:off x="10234879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0143439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10486339" y="1371600"/>
            <a:ext cx="1301191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46" name="Image 6" descr="/home/claude/icons/shelt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7779" y="1536192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0870387" y="1371600"/>
            <a:ext cx="862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Shelters</a:t>
            </a:r>
            <a:endParaRPr lang="en-US" sz="730" dirty="0"/>
          </a:p>
        </p:txBody>
      </p:sp>
      <p:sp>
        <p:nvSpPr>
          <p:cNvPr id="48" name="Shape 39"/>
          <p:cNvSpPr/>
          <p:nvPr/>
        </p:nvSpPr>
        <p:spPr>
          <a:xfrm>
            <a:off x="11641226" y="1289304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1549786" y="12847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pic>
        <p:nvPicPr>
          <p:cNvPr id="50" name="Image 7" descr="/home/claude/icons/chevron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97280" y="1984248"/>
            <a:ext cx="146304" cy="14630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457200" y="21396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2" name="Text 42"/>
          <p:cNvSpPr txBox="1"/>
          <p:nvPr/>
        </p:nvSpPr>
        <p:spPr>
          <a:xfrm>
            <a:off x="457200" y="2596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RUNTIME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1874520" y="2194560"/>
            <a:ext cx="0" cy="603504"/>
          </a:xfrm>
          <a:prstGeom prst="line">
            <a:avLst/>
          </a:prstGeom>
          <a:noFill/>
          <a:ln w="12700">
            <a:solidFill>
              <a:srgbClr val="26333F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1965960" y="2139696"/>
            <a:ext cx="9765792" cy="713232"/>
          </a:xfrm>
          <a:prstGeom prst="roundRect">
            <a:avLst>
              <a:gd name="adj" fmla="val 6410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2048256" y="2212848"/>
            <a:ext cx="3182112" cy="566928"/>
          </a:xfrm>
          <a:prstGeom prst="roundRect">
            <a:avLst>
              <a:gd name="adj" fmla="val 8065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56" name="Image 8" descr="/home/claude/icons/random_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9696" y="2377440"/>
            <a:ext cx="237744" cy="237744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2432304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 Orchestrator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5340096" y="2212848"/>
            <a:ext cx="3182112" cy="566928"/>
          </a:xfrm>
          <a:prstGeom prst="roundRect">
            <a:avLst>
              <a:gd name="adj" fmla="val 8065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59" name="Image 9" descr="/home/claude/icons/microchip_gree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1536" y="2377440"/>
            <a:ext cx="237744" cy="237744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5724144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Switchyard</a:t>
            </a: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</a:t>
            </a:r>
            <a:r>
              <a:rPr lang="en-US" sz="9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endParaRPr lang="en-US" sz="950" dirty="0"/>
          </a:p>
        </p:txBody>
      </p:sp>
      <p:sp>
        <p:nvSpPr>
          <p:cNvPr id="61" name="Shape 49"/>
          <p:cNvSpPr/>
          <p:nvPr/>
        </p:nvSpPr>
        <p:spPr>
          <a:xfrm>
            <a:off x="8631936" y="2212848"/>
            <a:ext cx="3182112" cy="566928"/>
          </a:xfrm>
          <a:prstGeom prst="roundRect">
            <a:avLst>
              <a:gd name="adj" fmla="val 8065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62" name="Image 10" descr="/home/claude/icons/satellite_gre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3376" y="2377440"/>
            <a:ext cx="237744" cy="237744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9015984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endParaRPr lang="en-US" sz="950" dirty="0"/>
          </a:p>
        </p:txBody>
      </p:sp>
      <p:pic>
        <p:nvPicPr>
          <p:cNvPr id="64" name="Image 11" descr="/home/claude/icons/chevron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97280" y="2825496"/>
            <a:ext cx="146304" cy="146304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457200" y="298094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66" name="Text 52"/>
          <p:cNvSpPr txBox="1"/>
          <p:nvPr/>
        </p:nvSpPr>
        <p:spPr>
          <a:xfrm>
            <a:off x="457200" y="34381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</a:t>
            </a:r>
            <a:endParaRPr lang="en-US" sz="800" dirty="0"/>
          </a:p>
        </p:txBody>
      </p:sp>
      <p:sp>
        <p:nvSpPr>
          <p:cNvPr id="67" name="Shape 53"/>
          <p:cNvSpPr/>
          <p:nvPr/>
        </p:nvSpPr>
        <p:spPr>
          <a:xfrm>
            <a:off x="1874520" y="3035808"/>
            <a:ext cx="0" cy="603504"/>
          </a:xfrm>
          <a:prstGeom prst="line">
            <a:avLst/>
          </a:prstGeom>
          <a:noFill/>
          <a:ln w="12700">
            <a:solidFill>
              <a:srgbClr val="26333F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1965960" y="2980944"/>
            <a:ext cx="9765792" cy="713232"/>
          </a:xfrm>
          <a:prstGeom prst="roundRect">
            <a:avLst>
              <a:gd name="adj" fmla="val 6410"/>
            </a:avLst>
          </a:prstGeom>
          <a:solidFill>
            <a:srgbClr val="141A21"/>
          </a:solidFill>
          <a:ln w="9525">
            <a:solidFill>
              <a:srgbClr val="26333F"/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2048256" y="3054096"/>
            <a:ext cx="2359152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70" name="Image 12" descr="/home/claude/icons/clipboar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9696" y="3218688"/>
            <a:ext cx="237744" cy="237744"/>
          </a:xfrm>
          <a:prstGeom prst="rect">
            <a:avLst/>
          </a:prstGeom>
        </p:spPr>
      </p:pic>
      <p:sp>
        <p:nvSpPr>
          <p:cNvPr id="71" name="Text 56"/>
          <p:cNvSpPr txBox="1"/>
          <p:nvPr/>
        </p:nvSpPr>
        <p:spPr>
          <a:xfrm>
            <a:off x="2432304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Verifier</a:t>
            </a:r>
            <a:endParaRPr lang="en-US" sz="840" dirty="0"/>
          </a:p>
        </p:txBody>
      </p:sp>
      <p:sp>
        <p:nvSpPr>
          <p:cNvPr id="72" name="Shape 57"/>
          <p:cNvSpPr/>
          <p:nvPr/>
        </p:nvSpPr>
        <p:spPr>
          <a:xfrm>
            <a:off x="4261104" y="2971800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3" name="Text 58"/>
          <p:cNvSpPr txBox="1"/>
          <p:nvPr/>
        </p:nvSpPr>
        <p:spPr>
          <a:xfrm>
            <a:off x="4169664" y="29672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74" name="Shape 59"/>
          <p:cNvSpPr/>
          <p:nvPr/>
        </p:nvSpPr>
        <p:spPr>
          <a:xfrm>
            <a:off x="4517136" y="3054096"/>
            <a:ext cx="2359152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75" name="Image 13" descr="/home/claude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3218688"/>
            <a:ext cx="237744" cy="237744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4901184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840" dirty="0"/>
          </a:p>
        </p:txBody>
      </p:sp>
      <p:sp>
        <p:nvSpPr>
          <p:cNvPr id="77" name="Shape 61"/>
          <p:cNvSpPr/>
          <p:nvPr/>
        </p:nvSpPr>
        <p:spPr>
          <a:xfrm>
            <a:off x="6729984" y="2971800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8" name="Text 62"/>
          <p:cNvSpPr txBox="1"/>
          <p:nvPr/>
        </p:nvSpPr>
        <p:spPr>
          <a:xfrm>
            <a:off x="6638544" y="29672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79" name="Shape 63"/>
          <p:cNvSpPr/>
          <p:nvPr/>
        </p:nvSpPr>
        <p:spPr>
          <a:xfrm>
            <a:off x="6986016" y="3054096"/>
            <a:ext cx="2359152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80" name="Image 14" descr="/home/claude/icons/eye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77456" y="3218688"/>
            <a:ext cx="237744" cy="237744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7370064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OpenShell Sandbox</a:t>
            </a:r>
            <a:endParaRPr lang="en-US" sz="840" dirty="0"/>
          </a:p>
        </p:txBody>
      </p:sp>
      <p:sp>
        <p:nvSpPr>
          <p:cNvPr id="82" name="Shape 65"/>
          <p:cNvSpPr/>
          <p:nvPr/>
        </p:nvSpPr>
        <p:spPr>
          <a:xfrm>
            <a:off x="9198864" y="2971800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3" name="Text 66"/>
          <p:cNvSpPr txBox="1"/>
          <p:nvPr/>
        </p:nvSpPr>
        <p:spPr>
          <a:xfrm>
            <a:off x="9107424" y="29672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84" name="Shape 67"/>
          <p:cNvSpPr/>
          <p:nvPr/>
        </p:nvSpPr>
        <p:spPr>
          <a:xfrm>
            <a:off x="9454896" y="3054096"/>
            <a:ext cx="2359152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85" name="Image 15" descr="/home/claude/icons/scale_gree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46336" y="3218688"/>
            <a:ext cx="237744" cy="237744"/>
          </a:xfrm>
          <a:prstGeom prst="rect">
            <a:avLst/>
          </a:prstGeom>
        </p:spPr>
      </p:pic>
      <p:sp>
        <p:nvSpPr>
          <p:cNvPr id="86" name="Text 68"/>
          <p:cNvSpPr txBox="1"/>
          <p:nvPr/>
        </p:nvSpPr>
        <p:spPr>
          <a:xfrm>
            <a:off x="9838944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Verifier</a:t>
            </a:r>
            <a:endParaRPr lang="en-US" sz="840" dirty="0"/>
          </a:p>
        </p:txBody>
      </p:sp>
      <p:sp>
        <p:nvSpPr>
          <p:cNvPr id="87" name="Shape 69"/>
          <p:cNvSpPr/>
          <p:nvPr/>
        </p:nvSpPr>
        <p:spPr>
          <a:xfrm>
            <a:off x="11667744" y="2971800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8" name="Text 70"/>
          <p:cNvSpPr txBox="1"/>
          <p:nvPr/>
        </p:nvSpPr>
        <p:spPr>
          <a:xfrm>
            <a:off x="11576304" y="29672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pic>
        <p:nvPicPr>
          <p:cNvPr id="89" name="Image 16" descr="/home/claude/icons/chevron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97280" y="3666744"/>
            <a:ext cx="146304" cy="146304"/>
          </a:xfrm>
          <a:prstGeom prst="rect">
            <a:avLst/>
          </a:prstGeom>
        </p:spPr>
      </p:pic>
      <p:sp>
        <p:nvSpPr>
          <p:cNvPr id="90" name="Text 71"/>
          <p:cNvSpPr txBox="1"/>
          <p:nvPr/>
        </p:nvSpPr>
        <p:spPr>
          <a:xfrm>
            <a:off x="457200" y="38221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91" name="Text 72"/>
          <p:cNvSpPr txBox="1"/>
          <p:nvPr/>
        </p:nvSpPr>
        <p:spPr>
          <a:xfrm>
            <a:off x="45720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OUTPUTS</a:t>
            </a:r>
            <a:endParaRPr lang="en-US" sz="800" dirty="0"/>
          </a:p>
        </p:txBody>
      </p:sp>
      <p:sp>
        <p:nvSpPr>
          <p:cNvPr id="92" name="Shape 73"/>
          <p:cNvSpPr/>
          <p:nvPr/>
        </p:nvSpPr>
        <p:spPr>
          <a:xfrm>
            <a:off x="1874520" y="3877056"/>
            <a:ext cx="0" cy="603504"/>
          </a:xfrm>
          <a:prstGeom prst="line">
            <a:avLst/>
          </a:prstGeom>
          <a:noFill/>
          <a:ln w="12700">
            <a:solidFill>
              <a:srgbClr val="26333F"/>
            </a:solidFill>
            <a:prstDash val="solid"/>
          </a:ln>
        </p:spPr>
      </p:sp>
      <p:sp>
        <p:nvSpPr>
          <p:cNvPr id="93" name="Shape 74"/>
          <p:cNvSpPr/>
          <p:nvPr/>
        </p:nvSpPr>
        <p:spPr>
          <a:xfrm>
            <a:off x="1965960" y="3822192"/>
            <a:ext cx="9765792" cy="713232"/>
          </a:xfrm>
          <a:prstGeom prst="roundRect">
            <a:avLst>
              <a:gd name="adj" fmla="val 6410"/>
            </a:avLst>
          </a:prstGeom>
          <a:solidFill>
            <a:srgbClr val="141A21"/>
          </a:solidFill>
          <a:ln w="9525">
            <a:solidFill>
              <a:srgbClr val="26333F"/>
            </a:solidFill>
            <a:prstDash val="solid"/>
          </a:ln>
        </p:spPr>
      </p:sp>
      <p:sp>
        <p:nvSpPr>
          <p:cNvPr id="94" name="Shape 75"/>
          <p:cNvSpPr/>
          <p:nvPr/>
        </p:nvSpPr>
        <p:spPr>
          <a:xfrm>
            <a:off x="2048256" y="3895344"/>
            <a:ext cx="1865376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95" name="Image 17" descr="/home/claude/icons/shield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9696" y="4059936"/>
            <a:ext cx="237744" cy="237744"/>
          </a:xfrm>
          <a:prstGeom prst="rect">
            <a:avLst/>
          </a:prstGeom>
        </p:spPr>
      </p:pic>
      <p:sp>
        <p:nvSpPr>
          <p:cNvPr id="96" name="Text 76"/>
          <p:cNvSpPr txBox="1"/>
          <p:nvPr/>
        </p:nvSpPr>
        <p:spPr>
          <a:xfrm>
            <a:off x="2432304" y="3895344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Life-Safety</a:t>
            </a:r>
            <a:endParaRPr lang="en-US" sz="840" dirty="0"/>
          </a:p>
        </p:txBody>
      </p:sp>
      <p:sp>
        <p:nvSpPr>
          <p:cNvPr id="97" name="Shape 77"/>
          <p:cNvSpPr/>
          <p:nvPr/>
        </p:nvSpPr>
        <p:spPr>
          <a:xfrm>
            <a:off x="3767328" y="381304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8" name="Text 78"/>
          <p:cNvSpPr txBox="1"/>
          <p:nvPr/>
        </p:nvSpPr>
        <p:spPr>
          <a:xfrm>
            <a:off x="3675888" y="38084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99" name="Shape 79"/>
          <p:cNvSpPr/>
          <p:nvPr/>
        </p:nvSpPr>
        <p:spPr>
          <a:xfrm>
            <a:off x="4023360" y="3895344"/>
            <a:ext cx="1865376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00" name="Image 18" descr="/home/claude/icons/dollar_gree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4800" y="4059936"/>
            <a:ext cx="237744" cy="237744"/>
          </a:xfrm>
          <a:prstGeom prst="rect">
            <a:avLst/>
          </a:prstGeom>
        </p:spPr>
      </p:pic>
      <p:sp>
        <p:nvSpPr>
          <p:cNvPr id="101" name="Text 80"/>
          <p:cNvSpPr txBox="1"/>
          <p:nvPr/>
        </p:nvSpPr>
        <p:spPr>
          <a:xfrm>
            <a:off x="4407408" y="3895344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Exposure</a:t>
            </a:r>
            <a:endParaRPr lang="en-US" sz="840" dirty="0"/>
          </a:p>
        </p:txBody>
      </p:sp>
      <p:sp>
        <p:nvSpPr>
          <p:cNvPr id="102" name="Shape 81"/>
          <p:cNvSpPr/>
          <p:nvPr/>
        </p:nvSpPr>
        <p:spPr>
          <a:xfrm>
            <a:off x="5742432" y="3813048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3" name="Text 82"/>
          <p:cNvSpPr txBox="1"/>
          <p:nvPr/>
        </p:nvSpPr>
        <p:spPr>
          <a:xfrm>
            <a:off x="5650992" y="38084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104" name="Shape 83"/>
          <p:cNvSpPr/>
          <p:nvPr/>
        </p:nvSpPr>
        <p:spPr>
          <a:xfrm>
            <a:off x="5998464" y="3895344"/>
            <a:ext cx="1865376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05" name="Image 19" descr="/home/claude/icons/route_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9904" y="4059936"/>
            <a:ext cx="237744" cy="237744"/>
          </a:xfrm>
          <a:prstGeom prst="rect">
            <a:avLst/>
          </a:prstGeom>
        </p:spPr>
      </p:pic>
      <p:sp>
        <p:nvSpPr>
          <p:cNvPr id="106" name="Text 84"/>
          <p:cNvSpPr txBox="1"/>
          <p:nvPr/>
        </p:nvSpPr>
        <p:spPr>
          <a:xfrm>
            <a:off x="6382512" y="3895344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Evacuation Plan</a:t>
            </a:r>
            <a:endParaRPr lang="en-US" sz="840" dirty="0"/>
          </a:p>
        </p:txBody>
      </p:sp>
      <p:sp>
        <p:nvSpPr>
          <p:cNvPr id="107" name="Shape 85"/>
          <p:cNvSpPr/>
          <p:nvPr/>
        </p:nvSpPr>
        <p:spPr>
          <a:xfrm>
            <a:off x="7717536" y="3813048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8" name="Text 86"/>
          <p:cNvSpPr txBox="1"/>
          <p:nvPr/>
        </p:nvSpPr>
        <p:spPr>
          <a:xfrm>
            <a:off x="7626096" y="38084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109" name="Shape 87"/>
          <p:cNvSpPr/>
          <p:nvPr/>
        </p:nvSpPr>
        <p:spPr>
          <a:xfrm>
            <a:off x="7973568" y="3895344"/>
            <a:ext cx="1865376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10" name="Image 20" descr="/home/claude/icons/forecast_whi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5008" y="4059936"/>
            <a:ext cx="237744" cy="237744"/>
          </a:xfrm>
          <a:prstGeom prst="rect">
            <a:avLst/>
          </a:prstGeom>
        </p:spPr>
      </p:pic>
      <p:sp>
        <p:nvSpPr>
          <p:cNvPr id="111" name="Text 88"/>
          <p:cNvSpPr txBox="1"/>
          <p:nvPr/>
        </p:nvSpPr>
        <p:spPr>
          <a:xfrm>
            <a:off x="8357616" y="3895344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Forecast</a:t>
            </a:r>
            <a:endParaRPr lang="en-US" sz="840" dirty="0"/>
          </a:p>
        </p:txBody>
      </p:sp>
      <p:sp>
        <p:nvSpPr>
          <p:cNvPr id="112" name="Shape 89"/>
          <p:cNvSpPr/>
          <p:nvPr/>
        </p:nvSpPr>
        <p:spPr>
          <a:xfrm>
            <a:off x="9692640" y="381304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3" name="Text 90"/>
          <p:cNvSpPr txBox="1"/>
          <p:nvPr/>
        </p:nvSpPr>
        <p:spPr>
          <a:xfrm>
            <a:off x="9601200" y="38084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14" name="Shape 91"/>
          <p:cNvSpPr/>
          <p:nvPr/>
        </p:nvSpPr>
        <p:spPr>
          <a:xfrm>
            <a:off x="9948672" y="3895344"/>
            <a:ext cx="1865376" cy="566928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15" name="Image 21" descr="/home/claude/icons/counterfactual_whi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0112" y="4059936"/>
            <a:ext cx="237744" cy="237744"/>
          </a:xfrm>
          <a:prstGeom prst="rect">
            <a:avLst/>
          </a:prstGeom>
        </p:spPr>
      </p:pic>
      <p:sp>
        <p:nvSpPr>
          <p:cNvPr id="116" name="Text 92"/>
          <p:cNvSpPr txBox="1"/>
          <p:nvPr/>
        </p:nvSpPr>
        <p:spPr>
          <a:xfrm>
            <a:off x="10332720" y="3895344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840" dirty="0"/>
          </a:p>
        </p:txBody>
      </p:sp>
      <p:sp>
        <p:nvSpPr>
          <p:cNvPr id="117" name="Shape 93"/>
          <p:cNvSpPr/>
          <p:nvPr/>
        </p:nvSpPr>
        <p:spPr>
          <a:xfrm>
            <a:off x="11667744" y="381304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8" name="Text 94"/>
          <p:cNvSpPr txBox="1"/>
          <p:nvPr/>
        </p:nvSpPr>
        <p:spPr>
          <a:xfrm>
            <a:off x="11576304" y="38084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pic>
        <p:nvPicPr>
          <p:cNvPr id="119" name="Image 22" descr="/home/claude/icons/chevron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97280" y="4507992"/>
            <a:ext cx="146304" cy="146304"/>
          </a:xfrm>
          <a:prstGeom prst="rect">
            <a:avLst/>
          </a:prstGeom>
        </p:spPr>
      </p:pic>
      <p:sp>
        <p:nvSpPr>
          <p:cNvPr id="120" name="Text 95"/>
          <p:cNvSpPr txBox="1"/>
          <p:nvPr/>
        </p:nvSpPr>
        <p:spPr>
          <a:xfrm>
            <a:off x="457200" y="46634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21" name="Text 96"/>
          <p:cNvSpPr txBox="1"/>
          <p:nvPr/>
        </p:nvSpPr>
        <p:spPr>
          <a:xfrm>
            <a:off x="457200" y="5120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800" dirty="0"/>
          </a:p>
        </p:txBody>
      </p:sp>
      <p:sp>
        <p:nvSpPr>
          <p:cNvPr id="122" name="Shape 97"/>
          <p:cNvSpPr/>
          <p:nvPr/>
        </p:nvSpPr>
        <p:spPr>
          <a:xfrm>
            <a:off x="1874520" y="4718304"/>
            <a:ext cx="0" cy="603504"/>
          </a:xfrm>
          <a:prstGeom prst="line">
            <a:avLst/>
          </a:prstGeom>
          <a:noFill/>
          <a:ln w="12700">
            <a:solidFill>
              <a:srgbClr val="26333F"/>
            </a:solidFill>
            <a:prstDash val="solid"/>
          </a:ln>
        </p:spPr>
      </p:sp>
      <p:sp>
        <p:nvSpPr>
          <p:cNvPr id="123" name="Shape 98"/>
          <p:cNvSpPr/>
          <p:nvPr/>
        </p:nvSpPr>
        <p:spPr>
          <a:xfrm>
            <a:off x="1965960" y="4663440"/>
            <a:ext cx="9765792" cy="713232"/>
          </a:xfrm>
          <a:prstGeom prst="roundRect">
            <a:avLst>
              <a:gd name="adj" fmla="val 6410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124" name="Shape 99"/>
          <p:cNvSpPr/>
          <p:nvPr/>
        </p:nvSpPr>
        <p:spPr>
          <a:xfrm>
            <a:off x="2048256" y="4736592"/>
            <a:ext cx="4828032" cy="566928"/>
          </a:xfrm>
          <a:prstGeom prst="roundRect">
            <a:avLst>
              <a:gd name="adj" fmla="val 8065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25" name="Image 23" descr="/home/claude/icons/clipboar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9696" y="4901184"/>
            <a:ext cx="237744" cy="237744"/>
          </a:xfrm>
          <a:prstGeom prst="rect">
            <a:avLst/>
          </a:prstGeom>
        </p:spPr>
      </p:pic>
      <p:sp>
        <p:nvSpPr>
          <p:cNvPr id="126" name="Text 100"/>
          <p:cNvSpPr txBox="1"/>
          <p:nvPr/>
        </p:nvSpPr>
        <p:spPr>
          <a:xfrm>
            <a:off x="2432304" y="4736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Brief</a:t>
            </a:r>
            <a:endParaRPr lang="en-US" sz="950" dirty="0"/>
          </a:p>
        </p:txBody>
      </p:sp>
      <p:sp>
        <p:nvSpPr>
          <p:cNvPr id="127" name="Shape 101"/>
          <p:cNvSpPr/>
          <p:nvPr/>
        </p:nvSpPr>
        <p:spPr>
          <a:xfrm>
            <a:off x="6729984" y="4654296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8" name="Text 102"/>
          <p:cNvSpPr txBox="1"/>
          <p:nvPr/>
        </p:nvSpPr>
        <p:spPr>
          <a:xfrm>
            <a:off x="6638544" y="46497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129" name="Shape 103"/>
          <p:cNvSpPr/>
          <p:nvPr/>
        </p:nvSpPr>
        <p:spPr>
          <a:xfrm>
            <a:off x="6986016" y="4736592"/>
            <a:ext cx="4828032" cy="566928"/>
          </a:xfrm>
          <a:prstGeom prst="roundRect">
            <a:avLst>
              <a:gd name="adj" fmla="val 8065"/>
            </a:avLst>
          </a:prstGeom>
          <a:solidFill>
            <a:srgbClr val="1E2830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30" name="Image 24" descr="/home/claude/icons/usercheck_whi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7456" y="4901184"/>
            <a:ext cx="237744" cy="237744"/>
          </a:xfrm>
          <a:prstGeom prst="rect">
            <a:avLst/>
          </a:prstGeom>
        </p:spPr>
      </p:pic>
      <p:sp>
        <p:nvSpPr>
          <p:cNvPr id="131" name="Text 104"/>
          <p:cNvSpPr txBox="1"/>
          <p:nvPr/>
        </p:nvSpPr>
        <p:spPr>
          <a:xfrm>
            <a:off x="7370064" y="4736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132" name="Shape 105"/>
          <p:cNvSpPr/>
          <p:nvPr/>
        </p:nvSpPr>
        <p:spPr>
          <a:xfrm>
            <a:off x="11667744" y="4654296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3" name="Text 106"/>
          <p:cNvSpPr txBox="1"/>
          <p:nvPr/>
        </p:nvSpPr>
        <p:spPr>
          <a:xfrm>
            <a:off x="11576304" y="46497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34" name="Shape 107"/>
          <p:cNvSpPr/>
          <p:nvPr/>
        </p:nvSpPr>
        <p:spPr>
          <a:xfrm>
            <a:off x="457200" y="5559552"/>
            <a:ext cx="11274552" cy="841248"/>
          </a:xfrm>
          <a:prstGeom prst="roundRect">
            <a:avLst>
              <a:gd name="adj" fmla="val 6522"/>
            </a:avLst>
          </a:prstGeom>
          <a:solidFill>
            <a:srgbClr val="141A21"/>
          </a:solidFill>
          <a:ln w="12700">
            <a:solidFill>
              <a:srgbClr val="1597C5"/>
            </a:solidFill>
            <a:prstDash val="dash"/>
          </a:ln>
        </p:spPr>
      </p:sp>
      <p:sp>
        <p:nvSpPr>
          <p:cNvPr id="135" name="Text 108"/>
          <p:cNvSpPr txBox="1"/>
          <p:nvPr/>
        </p:nvSpPr>
        <p:spPr>
          <a:xfrm>
            <a:off x="621792" y="56144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 ·  WRAPS EVERY STAGE ABOVE</a:t>
            </a:r>
            <a:endParaRPr lang="en-US" sz="850" dirty="0"/>
          </a:p>
        </p:txBody>
      </p:sp>
      <p:sp>
        <p:nvSpPr>
          <p:cNvPr id="136" name="Shape 109"/>
          <p:cNvSpPr/>
          <p:nvPr/>
        </p:nvSpPr>
        <p:spPr>
          <a:xfrm>
            <a:off x="621792" y="5907024"/>
            <a:ext cx="2130552" cy="420624"/>
          </a:xfrm>
          <a:prstGeom prst="roundRect">
            <a:avLst>
              <a:gd name="adj" fmla="val 10870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37" name="Image 25" descr="/home/claude/icons/shield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232" y="5998464"/>
            <a:ext cx="237744" cy="237744"/>
          </a:xfrm>
          <a:prstGeom prst="rect">
            <a:avLst/>
          </a:prstGeom>
        </p:spPr>
      </p:pic>
      <p:sp>
        <p:nvSpPr>
          <p:cNvPr id="138" name="Text 110"/>
          <p:cNvSpPr txBox="1"/>
          <p:nvPr/>
        </p:nvSpPr>
        <p:spPr>
          <a:xfrm>
            <a:off x="1005840" y="59070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840" dirty="0"/>
          </a:p>
        </p:txBody>
      </p:sp>
      <p:sp>
        <p:nvSpPr>
          <p:cNvPr id="139" name="Shape 111"/>
          <p:cNvSpPr/>
          <p:nvPr/>
        </p:nvSpPr>
        <p:spPr>
          <a:xfrm>
            <a:off x="2606040" y="582472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0" name="Text 112"/>
          <p:cNvSpPr txBox="1"/>
          <p:nvPr/>
        </p:nvSpPr>
        <p:spPr>
          <a:xfrm>
            <a:off x="2514600" y="58201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41" name="Shape 113"/>
          <p:cNvSpPr/>
          <p:nvPr/>
        </p:nvSpPr>
        <p:spPr>
          <a:xfrm>
            <a:off x="2862072" y="5907024"/>
            <a:ext cx="2130552" cy="420624"/>
          </a:xfrm>
          <a:prstGeom prst="roundRect">
            <a:avLst>
              <a:gd name="adj" fmla="val 10870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42" name="Image 26" descr="/home/claude/icons/search_gree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53512" y="5998464"/>
            <a:ext cx="237744" cy="237744"/>
          </a:xfrm>
          <a:prstGeom prst="rect">
            <a:avLst/>
          </a:prstGeom>
        </p:spPr>
      </p:pic>
      <p:sp>
        <p:nvSpPr>
          <p:cNvPr id="143" name="Text 114"/>
          <p:cNvSpPr txBox="1"/>
          <p:nvPr/>
        </p:nvSpPr>
        <p:spPr>
          <a:xfrm>
            <a:off x="3246120" y="59070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endParaRPr lang="en-US" sz="840" dirty="0"/>
          </a:p>
        </p:txBody>
      </p:sp>
      <p:sp>
        <p:nvSpPr>
          <p:cNvPr id="144" name="Shape 115"/>
          <p:cNvSpPr/>
          <p:nvPr/>
        </p:nvSpPr>
        <p:spPr>
          <a:xfrm>
            <a:off x="4846320" y="5824728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5" name="Text 116"/>
          <p:cNvSpPr txBox="1"/>
          <p:nvPr/>
        </p:nvSpPr>
        <p:spPr>
          <a:xfrm>
            <a:off x="4754880" y="58201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146" name="Shape 117"/>
          <p:cNvSpPr/>
          <p:nvPr/>
        </p:nvSpPr>
        <p:spPr>
          <a:xfrm>
            <a:off x="5102352" y="5907024"/>
            <a:ext cx="2130552" cy="420624"/>
          </a:xfrm>
          <a:prstGeom prst="roundRect">
            <a:avLst>
              <a:gd name="adj" fmla="val 10870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47" name="Image 27" descr="/home/claude/icons/bell_whit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93792" y="5998464"/>
            <a:ext cx="237744" cy="237744"/>
          </a:xfrm>
          <a:prstGeom prst="rect">
            <a:avLst/>
          </a:prstGeom>
        </p:spPr>
      </p:pic>
      <p:sp>
        <p:nvSpPr>
          <p:cNvPr id="148" name="Text 118"/>
          <p:cNvSpPr txBox="1"/>
          <p:nvPr/>
        </p:nvSpPr>
        <p:spPr>
          <a:xfrm>
            <a:off x="5486400" y="59070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Monitor</a:t>
            </a:r>
            <a:endParaRPr lang="en-US" sz="840" dirty="0"/>
          </a:p>
        </p:txBody>
      </p:sp>
      <p:sp>
        <p:nvSpPr>
          <p:cNvPr id="149" name="Shape 119"/>
          <p:cNvSpPr/>
          <p:nvPr/>
        </p:nvSpPr>
        <p:spPr>
          <a:xfrm>
            <a:off x="7086600" y="582472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0" name="Text 120"/>
          <p:cNvSpPr txBox="1"/>
          <p:nvPr/>
        </p:nvSpPr>
        <p:spPr>
          <a:xfrm>
            <a:off x="6995160" y="58201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51" name="Shape 121"/>
          <p:cNvSpPr/>
          <p:nvPr/>
        </p:nvSpPr>
        <p:spPr>
          <a:xfrm>
            <a:off x="7342632" y="5907024"/>
            <a:ext cx="2130552" cy="420624"/>
          </a:xfrm>
          <a:prstGeom prst="roundRect">
            <a:avLst>
              <a:gd name="adj" fmla="val 10870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52" name="Image 28" descr="/home/claude/icons/bolt_whit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4072" y="5998464"/>
            <a:ext cx="237744" cy="237744"/>
          </a:xfrm>
          <a:prstGeom prst="rect">
            <a:avLst/>
          </a:prstGeom>
        </p:spPr>
      </p:pic>
      <p:sp>
        <p:nvSpPr>
          <p:cNvPr id="153" name="Text 122"/>
          <p:cNvSpPr txBox="1"/>
          <p:nvPr/>
        </p:nvSpPr>
        <p:spPr>
          <a:xfrm>
            <a:off x="7726680" y="59070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840" dirty="0"/>
          </a:p>
        </p:txBody>
      </p:sp>
      <p:sp>
        <p:nvSpPr>
          <p:cNvPr id="154" name="Shape 123"/>
          <p:cNvSpPr/>
          <p:nvPr/>
        </p:nvSpPr>
        <p:spPr>
          <a:xfrm>
            <a:off x="9326880" y="5824728"/>
            <a:ext cx="182880" cy="182880"/>
          </a:xfrm>
          <a:prstGeom prst="ellipse">
            <a:avLst/>
          </a:prstGeom>
          <a:solidFill>
            <a:srgbClr val="F04B2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5" name="Text 124"/>
          <p:cNvSpPr txBox="1"/>
          <p:nvPr/>
        </p:nvSpPr>
        <p:spPr>
          <a:xfrm>
            <a:off x="9235440" y="58201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156" name="Shape 125"/>
          <p:cNvSpPr/>
          <p:nvPr/>
        </p:nvSpPr>
        <p:spPr>
          <a:xfrm>
            <a:off x="9582912" y="5907024"/>
            <a:ext cx="2130552" cy="420624"/>
          </a:xfrm>
          <a:prstGeom prst="roundRect">
            <a:avLst>
              <a:gd name="adj" fmla="val 10870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57" name="Image 29" descr="/home/claude/icons/chartbar_gree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74352" y="5998464"/>
            <a:ext cx="237744" cy="237744"/>
          </a:xfrm>
          <a:prstGeom prst="rect">
            <a:avLst/>
          </a:prstGeom>
        </p:spPr>
      </p:pic>
      <p:sp>
        <p:nvSpPr>
          <p:cNvPr id="158" name="Text 126"/>
          <p:cNvSpPr txBox="1"/>
          <p:nvPr/>
        </p:nvSpPr>
        <p:spPr>
          <a:xfrm>
            <a:off x="9966960" y="59070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Evaluator</a:t>
            </a:r>
            <a:endParaRPr lang="en-US" sz="840" dirty="0"/>
          </a:p>
        </p:txBody>
      </p:sp>
      <p:sp>
        <p:nvSpPr>
          <p:cNvPr id="159" name="Shape 127"/>
          <p:cNvSpPr/>
          <p:nvPr/>
        </p:nvSpPr>
        <p:spPr>
          <a:xfrm>
            <a:off x="11567160" y="5824728"/>
            <a:ext cx="182880" cy="182880"/>
          </a:xfrm>
          <a:prstGeom prst="ellipse">
            <a:avLst/>
          </a:prstGeom>
          <a:solidFill>
            <a:srgbClr val="1597C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0" name="Text 128"/>
          <p:cNvSpPr txBox="1"/>
          <p:nvPr/>
        </p:nvSpPr>
        <p:spPr>
          <a:xfrm>
            <a:off x="11475720" y="58201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161" name="Text 12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900" dirty="0"/>
          </a:p>
        </p:txBody>
      </p:sp>
      <p:sp>
        <p:nvSpPr>
          <p:cNvPr id="162" name="Text 130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NVIDIA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NVIDIA services in the live inference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microchip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8859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78308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reasoning + vision model call, OpenAI-compatible dispatch to build.nvidia.com / self-hosted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40080" y="336499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429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nim_client.py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74464" y="178308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3" name="Image 1" descr="/home/claude/icons/random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334" y="188595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68824" y="178308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Switchyard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474464" y="237744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dev vs. self-hosted target AND effort tier (small model on clean evidence, large model when ambiguous)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474464" y="336499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74464" y="3429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switchyard_router.py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8125968" y="160020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08848" y="178308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0" name="Image 2" descr="/home/claude/icons/satellit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718" y="188595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03208" y="178308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308848" y="237744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Governs every call: real token counts, real measured latency, labeled cost, full exported audit trace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308848" y="336499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308848" y="3429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relay_governance.py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7" name="Image 3" descr="/home/claude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263390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34440" y="416052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475488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self-check on narratives, input moderation on SMS/Assistant, bias/fairness proxy in eval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640080" y="574243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40080" y="580644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guardrails/*_rails.py</a:t>
            </a:r>
            <a:endParaRPr lang="en-US" sz="860" dirty="0"/>
          </a:p>
        </p:txBody>
      </p:sp>
      <p:sp>
        <p:nvSpPr>
          <p:cNvPr id="32" name="Shape 26"/>
          <p:cNvSpPr/>
          <p:nvPr/>
        </p:nvSpPr>
        <p:spPr>
          <a:xfrm>
            <a:off x="4291584" y="397764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74464" y="416052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34" name="Image 4" descr="/home/claude/icons/search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334" y="4263390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068824" y="416052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endParaRPr lang="en-US" sz="1450" dirty="0"/>
          </a:p>
        </p:txBody>
      </p:sp>
      <p:sp>
        <p:nvSpPr>
          <p:cNvPr id="36" name="Text 29"/>
          <p:cNvSpPr txBox="1"/>
          <p:nvPr/>
        </p:nvSpPr>
        <p:spPr>
          <a:xfrm>
            <a:off x="4474464" y="475488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a 34-doc knowledge corpus; adaptive-cutoff similarity ranking for the RAG Assistant</a:t>
            </a:r>
            <a:endParaRPr lang="en-US" sz="930" dirty="0"/>
          </a:p>
        </p:txBody>
      </p:sp>
      <p:sp>
        <p:nvSpPr>
          <p:cNvPr id="37" name="Shape 30"/>
          <p:cNvSpPr/>
          <p:nvPr/>
        </p:nvSpPr>
        <p:spPr>
          <a:xfrm>
            <a:off x="4474464" y="574243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474464" y="580644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retriever_client.py</a:t>
            </a:r>
            <a:endParaRPr lang="en-US" sz="860" dirty="0"/>
          </a:p>
        </p:txBody>
      </p:sp>
      <p:sp>
        <p:nvSpPr>
          <p:cNvPr id="39" name="Shape 32"/>
          <p:cNvSpPr/>
          <p:nvPr/>
        </p:nvSpPr>
        <p:spPr>
          <a:xfrm>
            <a:off x="8125968" y="397764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08848" y="4160520"/>
            <a:ext cx="457200" cy="45720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41" name="Image 5" descr="/home/claude/icons/chartbar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718" y="426339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903208" y="4160520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NeMo Evaluator</a:t>
            </a:r>
            <a:endParaRPr lang="en-US" sz="1450" dirty="0"/>
          </a:p>
        </p:txBody>
      </p:sp>
      <p:sp>
        <p:nvSpPr>
          <p:cNvPr id="43" name="Text 35"/>
          <p:cNvSpPr txBox="1"/>
          <p:nvPr/>
        </p:nvSpPr>
        <p:spPr>
          <a:xfrm>
            <a:off x="8308848" y="4754880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BYOB benchmarks: retrieval P/R/F1 + life-safety faithfulness/completeness/bias vs. golden data</a:t>
            </a:r>
            <a:endParaRPr lang="en-US" sz="930" dirty="0"/>
          </a:p>
        </p:txBody>
      </p:sp>
      <p:sp>
        <p:nvSpPr>
          <p:cNvPr id="44" name="Shape 36"/>
          <p:cNvSpPr/>
          <p:nvPr/>
        </p:nvSpPr>
        <p:spPr>
          <a:xfrm>
            <a:off x="8308848" y="5742432"/>
            <a:ext cx="3240024" cy="10973"/>
          </a:xfrm>
          <a:prstGeom prst="rect">
            <a:avLst/>
          </a:prstGeom>
          <a:solidFill>
            <a:srgbClr val="26333F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308848" y="580644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nemo_evaluator_suite.py</a:t>
            </a:r>
            <a:endParaRPr lang="en-US" sz="860" dirty="0"/>
          </a:p>
        </p:txBody>
      </p:sp>
      <p:sp>
        <p:nvSpPr>
          <p:cNvPr id="46" name="Text 3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SERVICES IN USE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TRACEABILITY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trustworthy" has a measured answer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5784" cy="2788920"/>
          </a:xfrm>
          <a:prstGeom prst="roundRect">
            <a:avLst>
              <a:gd name="adj" fmla="val 262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1" y="186949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783080"/>
            <a:ext cx="2782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caught live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2304288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self-check re-verifies every life-safety narrative against source evidence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3081528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" y="3008376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live: caught an unsupported claim mid-run, demoted to a raw evidence summary automatically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785616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" y="3712464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moderation on SMS + Assistant chat; fails OPEN on infra failure (never silently blocks a real emergency message)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91584" y="1600200"/>
            <a:ext cx="3605784" cy="2788920"/>
          </a:xfrm>
          <a:prstGeom prst="roundRect">
            <a:avLst>
              <a:gd name="adj" fmla="val 262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74464" y="178308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6" name="Image 1" descr="/home/claude/icons/satellit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875" y="1869491"/>
            <a:ext cx="211226" cy="21122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949952" y="1783080"/>
            <a:ext cx="2782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&amp; cost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74464" y="2377440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639056" y="2304288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scopes every LLM/tool/gate call: real token counts, real measured wall-clock latency, labeled cost estimate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474464" y="3081528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39056" y="3008376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chronological trace exported to an on-disk audit file — visible live in the Observability screen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474464" y="3785616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639056" y="3712464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breaker: 3 failures → 300s cooldown. Measured 418s → 95.3s, a 4.4× speedup, observed not estimated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125968" y="1600200"/>
            <a:ext cx="3605784" cy="2788920"/>
          </a:xfrm>
          <a:prstGeom prst="roundRect">
            <a:avLst>
              <a:gd name="adj" fmla="val 2623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08848" y="1783080"/>
            <a:ext cx="384048" cy="384048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6" name="Image 2" descr="/home/claude/icons/chartbar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59" y="1869491"/>
            <a:ext cx="211226" cy="21122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784336" y="1783080"/>
            <a:ext cx="2782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(real)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308848" y="2377440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473440" y="2304288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NeMo Evaluator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 registered benchmarks: retrieval P/R/F1/accuracy + life-safety faithfulness/completeness/bias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8308848" y="3081528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473440" y="3008376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Root-caused a 0.32 precision score to a fixed-K cutoff bug; fixed; re-measured at 0.71 precision / 0.80 recall / 0.73 F1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8308848" y="3785616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473440" y="3712464"/>
            <a:ext cx="3075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Golden-dataset assertions run through the REAL pipeline — not an LLM grading its own homework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57200" y="4553712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0080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ESTIMATED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40080" y="4901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precision</a:t>
            </a:r>
            <a:endParaRPr lang="en-US" sz="9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40080" y="5102352"/>
          <a:ext cx="3383280" cy="70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Text 32"/>
          <p:cNvSpPr txBox="1"/>
          <p:nvPr/>
        </p:nvSpPr>
        <p:spPr>
          <a:xfrm>
            <a:off x="4206240" y="4901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Circuit-breaker recovery (s)</a:t>
            </a:r>
            <a:endParaRPr lang="en-US" sz="900" dirty="0"/>
          </a:p>
        </p:txBody>
      </p:sp>
      <p:graphicFrame>
        <p:nvGraphicFramePr>
          <p:cNvPr id="39" name="Chart 1"/>
          <p:cNvGraphicFramePr/>
          <p:nvPr/>
        </p:nvGraphicFramePr>
        <p:xfrm>
          <a:off x="4206240" y="5102352"/>
          <a:ext cx="3383280" cy="70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 33"/>
          <p:cNvSpPr txBox="1"/>
          <p:nvPr/>
        </p:nvSpPr>
        <p:spPr>
          <a:xfrm>
            <a:off x="7863840" y="48737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endParaRPr lang="en-US" sz="3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circuit-breaker speedup</a:t>
            </a:r>
            <a:endParaRPr lang="en-US" sz="3000" dirty="0"/>
          </a:p>
        </p:txBody>
      </p:sp>
      <p:sp>
        <p:nvSpPr>
          <p:cNvPr id="41" name="Text 34"/>
          <p:cNvSpPr txBox="1"/>
          <p:nvPr/>
        </p:nvSpPr>
        <p:spPr>
          <a:xfrm>
            <a:off x="9692640" y="48737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3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F1 score</a:t>
            </a:r>
            <a:endParaRPr lang="en-US" sz="30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TRACEABILITY &amp; EVALUATION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routing layer with a LifeShield fine-tuned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</a:t>
            </a: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routes live requests. </a:t>
            </a:r>
            <a:r>
              <a:rPr lang="en-US" sz="13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Designer</a:t>
            </a: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</a:t>
            </a:r>
            <a:r>
              <a:rPr lang="en-US" sz="13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AutoModel</a:t>
            </a: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build the specialist model offline.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22976" cy="868680"/>
          </a:xfrm>
          <a:prstGeom prst="roundRect">
            <a:avLst>
              <a:gd name="adj" fmla="val 7368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2084832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7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7128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0704" y="20116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axis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0704" y="228600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dev (hosted build.nvidia.com) vs. prod (self-hosted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on a GPU cluster) — one settings flag, zero code change at any call site.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08776" y="1920240"/>
            <a:ext cx="5522976" cy="868680"/>
          </a:xfrm>
          <a:prstGeom prst="roundRect">
            <a:avLst>
              <a:gd name="adj" fmla="val 7368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084832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2" name="Image 1" descr="/home/claude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6712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12280" y="20116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fine-tuning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228600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Designer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generated 100 synthetic examples.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AutoModel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LoRA adapted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3.5 Lightning 30B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on 1×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B300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produced a ~14 MB adapter.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IN THE LIVE ROTATION TODAY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364992"/>
            <a:ext cx="11274552" cy="36576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9436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33649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561320" y="3364992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TIER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3730752"/>
            <a:ext cx="11274552" cy="45720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943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Life-safety synthesis (clean evidence)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98348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3.5 Lightning 30B</a:t>
            </a: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</a:t>
            </a: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LoRA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561320" y="373075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" y="4187952"/>
            <a:ext cx="11274552" cy="45720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9436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Life-safety synthesis (ambiguous evidence)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983480" y="41879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nvidia/nemotron-3-super-120b-a12b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561320" y="418795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57200" y="4645152"/>
            <a:ext cx="11274552" cy="45720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94360" y="4645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damage read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4983480" y="46451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meta/llama-3.2-11b-vision-instruct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561320" y="464515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57200" y="5102352"/>
            <a:ext cx="11274552" cy="457200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94360" y="5102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/ briefs / narratives / SMS drafting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4983480" y="51023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nvidia/nemotron-3.5-lightning-30b-a3b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561320" y="510235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57200" y="3364992"/>
            <a:ext cx="11274552" cy="2194560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7200" y="578815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Why this matters: </a:t>
            </a:r>
            <a:r>
              <a:rPr lang="en-US" sz="100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</a:t>
            </a:r>
            <a:r>
              <a:rPr lang="en-US" sz="100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controls live cost and latency, while the </a:t>
            </a:r>
            <a:r>
              <a:rPr lang="en-US" sz="100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LoRA</a:t>
            </a:r>
            <a:r>
              <a:rPr lang="en-US" sz="100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adds disaster-response behavior without retraining the full model.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STRATEGY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different from a chatbot bolted onto a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746504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sliders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28800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203704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"What-If" Simulator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34056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slider-driven, real-time scenario model for 3 historical events (Harvey, Cyclone Vardah, 2022 Bengaluru floods) — the same exposure math as the live pipeline, instantly interactive, zero model latency.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4291584" y="160020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56176" y="1746504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1" name="Image 1" descr="/home/claude/icons/boo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472" y="18288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56176" y="2203704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Domain-grounded RAG, not open-domain chat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456176" y="2734056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answers ONLY from a 34-document, hand-written corpus + live event state — it says "I don't know" rather than guessing, and now includes persona-specific domain reference (NFIP, ICS/NIMS, swift-water safety).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8125968" y="160020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0560" y="1746504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6" name="Image 2" descr="/home/claude/icons/calculator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856" y="182880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90560" y="2203704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narrates, math decides — enforced structurally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90560" y="2734056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call anywhere in this app can produce a dollar figure, a route, or a distance — the single sentence that separates a demo from something a risk desk could actually use.</a:t>
            </a:r>
            <a:endParaRPr lang="en-US" sz="860" dirty="0"/>
          </a:p>
        </p:txBody>
      </p:sp>
      <p:sp>
        <p:nvSpPr>
          <p:cNvPr id="19" name="Shape 14"/>
          <p:cNvSpPr/>
          <p:nvPr/>
        </p:nvSpPr>
        <p:spPr>
          <a:xfrm>
            <a:off x="457200" y="3767328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" y="3913632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1" name="Image 3" descr="/home/claude/icons/speedo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99592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1792" y="4370832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as a measured feature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21792" y="4901184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CLOSED/OPEN/HALF_OPEN circuit breaker with a documented 4.4× measured speedup — most hackathon AI apps have zero fallback tier, this one has three.</a:t>
            </a:r>
            <a:endParaRPr lang="en-US" sz="860" dirty="0"/>
          </a:p>
        </p:txBody>
      </p:sp>
      <p:sp>
        <p:nvSpPr>
          <p:cNvPr id="24" name="Shape 18"/>
          <p:cNvSpPr/>
          <p:nvPr/>
        </p:nvSpPr>
        <p:spPr>
          <a:xfrm>
            <a:off x="4291584" y="3767328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56176" y="3913632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26" name="Image 4" descr="/home/claude/icons/earth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472" y="39959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56176" y="4370832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adapter, three countries, zero core-logic changes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456176" y="4901184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NWS/USGS/HCFCD → IMD/CWC/GCC Stormwater → IMD/KSNDMC/BBMP — the same EvidenceAdapter interface, just relabeled. This IS the internationalization strategy.</a:t>
            </a:r>
            <a:endParaRPr lang="en-US" sz="860" dirty="0"/>
          </a:p>
        </p:txBody>
      </p:sp>
      <p:sp>
        <p:nvSpPr>
          <p:cNvPr id="29" name="Shape 22"/>
          <p:cNvSpPr/>
          <p:nvPr/>
        </p:nvSpPr>
        <p:spPr>
          <a:xfrm>
            <a:off x="8125968" y="3767328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90560" y="3913632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31" name="Image 5" descr="/home/claude/icons/broadcast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856" y="399592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90560" y="4370832"/>
            <a:ext cx="327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Proactive, not just reactive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290560" y="4901184"/>
            <a:ext cx="3276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background monitor that decides, on its own, to raise an alert on a rising trend — the one surface that doesn't wait for a human to click "Check Now."</a:t>
            </a:r>
            <a:endParaRPr lang="en-US" sz="86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NVIDIA: capacity, control and deployment speed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86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1508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/ NVIDIA EVIDENCE</a:t>
            </a:r>
            <a:endParaRPr lang="en-US" sz="860" dirty="0"/>
          </a:p>
        </p:txBody>
      </p:sp>
      <p:sp>
        <p:nvSpPr>
          <p:cNvPr id="7" name="Text 5"/>
          <p:cNvSpPr txBox="1"/>
          <p:nvPr/>
        </p:nvSpPr>
        <p:spPr>
          <a:xfrm>
            <a:off x="7891272" y="150876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VALUE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11274552" cy="58521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" y="185623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GPUs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85623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4× NVIDIA </a:t>
            </a:r>
            <a:r>
              <a:rPr lang="en-US" sz="8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B300</a:t>
            </a: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GPUs in the LifeShield environment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1856232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capacity for model serving and concurrent agents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11274552" cy="58521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6072" y="24414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GPU memory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441448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 GB per GPU, 1.1 TB aggregate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441448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larger models and long context workloads resident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11274552" cy="58521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6072" y="30266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Blackwell inference</a:t>
            </a:r>
            <a:endParaRPr lang="en-US" sz="87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3026664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B300</a:t>
            </a: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supports FP4 Tensor Core inference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3026664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precision reduces model memory pressure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1274552" cy="58521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" y="36118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inference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3611880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containerized microservices with industry-standard APIs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91272" y="3611880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 across cloud, data center or workstation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197096"/>
            <a:ext cx="11274552" cy="58521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" y="41970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coverage</a:t>
            </a:r>
            <a:endParaRPr lang="en-US" sz="87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4197096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guardrail stages: input, retrieval, dialog, execution, output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891272" y="4197096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RAG context, tool calls and final answers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782312"/>
            <a:ext cx="11274552" cy="58521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6072" y="47823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policy library</a:t>
            </a:r>
            <a:endParaRPr lang="en-US" sz="870" dirty="0"/>
          </a:p>
        </p:txBody>
      </p:sp>
      <p:sp>
        <p:nvSpPr>
          <p:cNvPr id="30" name="Text 28"/>
          <p:cNvSpPr txBox="1"/>
          <p:nvPr/>
        </p:nvSpPr>
        <p:spPr>
          <a:xfrm>
            <a:off x="3410712" y="478231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built-in rails exposing 78 configurable surfaces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891272" y="4782312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policy coverage with less custom middleware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1508760"/>
            <a:ext cx="11274552" cy="3858768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504688"/>
            <a:ext cx="5522976" cy="960120"/>
          </a:xfrm>
          <a:prstGeom prst="roundRect">
            <a:avLst>
              <a:gd name="adj" fmla="val 666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MEASURED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6199632" y="5504688"/>
            <a:ext cx="5522976" cy="960120"/>
          </a:xfrm>
          <a:prstGeom prst="roundRect">
            <a:avLst>
              <a:gd name="adj" fmla="val 6667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64224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LIFESHIELD HARDWARE</a:t>
            </a:r>
            <a:endParaRPr lang="en-US" sz="83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633679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LifeShield hardware figures reflect the deployed four-GPU environment and are separate from the published eight-GPU </a:t>
            </a:r>
            <a:r>
              <a:rPr lang="en-US" sz="68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 B300</a:t>
            </a:r>
            <a:r>
              <a:rPr lang="en-US" sz="68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system specification.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001" name="LifeShield measured baseline"/>
          <p:cNvSpPr txBox="1"/>
          <p:nvPr/>
        </p:nvSpPr>
        <p:spPr>
          <a:xfrm>
            <a:off x="3000000" y="5550000"/>
            <a:ext cx="2850000" cy="8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2000" b="1">
                <a:solidFill>
                  <a:srgbClr val="1597C5"/>
                </a:solidFill>
                <a:latin typeface="Arial"/>
              </a:rPr>
              <a:t>152s live run</a:t>
            </a:r>
            <a:endParaRPr lang="en-US" sz="2000"/>
          </a:p>
          <a:p>
            <a:pPr algn="ctr"/>
            <a:r>
              <a:rPr lang="en-US" sz="1600">
                <a:solidFill>
                  <a:srgbClr val="F5F7FA"/>
                </a:solidFill>
                <a:latin typeface="Arial"/>
              </a:rPr>
              <a:t>0.71 retrieval precision</a:t>
            </a:r>
            <a:endParaRPr lang="en-US" sz="1600"/>
          </a:p>
        </p:txBody>
      </p:sp>
      <p:sp>
        <p:nvSpPr>
          <p:cNvPr id="9002" name="Comparative benchmark status"/>
          <p:cNvSpPr txBox="1"/>
          <p:nvPr/>
        </p:nvSpPr>
        <p:spPr>
          <a:xfrm>
            <a:off x="8700000" y="5550000"/>
            <a:ext cx="2850000" cy="8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2000" b="1">
                <a:solidFill>
                  <a:srgbClr val="F04B23"/>
                </a:solidFill>
                <a:latin typeface="Arial"/>
              </a:rPr>
              <a:t xml:space="preserve">4× </a:t>
            </a:r>
            <a:r>
              <a:rPr lang="en-US" sz="2000" b="1">
                <a:solidFill>
                  <a:srgbClr val="76B900"/>
                </a:solidFill>
                <a:latin typeface="Arial"/>
              </a:rPr>
              <a:t>B300</a:t>
            </a:r>
            <a:r>
              <a:rPr lang="en-US" sz="2000" b="1">
                <a:solidFill>
                  <a:srgbClr val="F04B23"/>
                </a:solidFill>
                <a:latin typeface="Arial"/>
              </a:rPr>
              <a:t xml:space="preserve"> GPUs</a:t>
            </a:r>
            <a:endParaRPr lang="en-US" sz="2000"/>
          </a:p>
          <a:p>
            <a:pPr algn="ctr"/>
            <a:r>
              <a:rPr lang="en-US" sz="1500">
                <a:solidFill>
                  <a:srgbClr val="F5F7FA"/>
                </a:solidFill>
                <a:latin typeface="Arial"/>
              </a:rPr>
              <a:t>1.1 TB aggregate memory</a:t>
            </a:r>
            <a:endParaRPr lang="en-US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ECOSYSTEM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integrated standard vs. a patchwork of point solutions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</a:t>
            </a: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35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35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and the </a:t>
            </a:r>
            <a:r>
              <a:rPr lang="en-US" sz="1350" i="1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toolkit</a:t>
            </a: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aren't four separate products bolted together — they share one schema, one trace format, one vendor to call when something breaks.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36576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6072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860" dirty="0"/>
          </a:p>
        </p:txBody>
      </p:sp>
      <p:sp>
        <p:nvSpPr>
          <p:cNvPr id="7" name="Text 5"/>
          <p:cNvSpPr txBox="1"/>
          <p:nvPr/>
        </p:nvSpPr>
        <p:spPr>
          <a:xfrm>
            <a:off x="2267712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ECOSYSTEM — ONE STANDARD</a:t>
            </a:r>
            <a:endParaRPr lang="en-US" sz="860" dirty="0"/>
          </a:p>
        </p:txBody>
      </p:sp>
      <p:sp>
        <p:nvSpPr>
          <p:cNvPr id="8" name="Text 6"/>
          <p:cNvSpPr txBox="1"/>
          <p:nvPr/>
        </p:nvSpPr>
        <p:spPr>
          <a:xfrm>
            <a:off x="8714232" y="16916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ALTERNATIVE — MANY STANDARDS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274552" cy="841248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" y="205740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11226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Switchyard</a:t>
            </a: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
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router decides target (dev/self-hosted) AND effort tier, per call — a single config flag, zero call-site changes.</a:t>
            </a:r>
            <a:endParaRPr lang="en-US" sz="1050" dirty="0"/>
          </a:p>
        </p:txBody>
      </p:sp>
      <p:pic>
        <p:nvPicPr>
          <p:cNvPr id="12" name="Image 0" descr="/home/claude/icons/exchang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35915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714232" y="2112264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Hand-rolled if/else, LangChain routers, LiteLLM gateways
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reinvents routing logic; no shared config format between projects.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98648"/>
            <a:ext cx="11274552" cy="841248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" y="289864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267712" y="2953512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
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Colang rail definitions for grounding, topical, and moderation checks — reusable across every model call in the pipeline.</a:t>
            </a:r>
            <a:endParaRPr lang="en-US" sz="1050" dirty="0"/>
          </a:p>
        </p:txBody>
      </p:sp>
      <p:pic>
        <p:nvPicPr>
          <p:cNvPr id="17" name="Image 1" descr="/home/claude/icons/exchang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20040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14232" y="295351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Guardrails-AI, Llama Guard, ad-hoc regex/prompt filters
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schema per tool; rails written for one project rarely port to the next.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3739896"/>
            <a:ext cx="11274552" cy="841248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76072" y="3739896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2267712" y="37947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
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Standardized, GPU-accelerated embedding + reranking microservices with adaptive-cutoff ranking.</a:t>
            </a:r>
            <a:endParaRPr lang="en-US" sz="1050" dirty="0"/>
          </a:p>
        </p:txBody>
      </p:sp>
      <p:pic>
        <p:nvPicPr>
          <p:cNvPr id="22" name="Image 2" descr="/home/claude/icons/exchang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404164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714232" y="379476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FAISS/Pinecone/Weaviate + a bolted-on reranker
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vector store has its own API, its own tuning knobs, its own failure modes.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4581144"/>
            <a:ext cx="11274552" cy="841248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76072" y="4581144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eval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2267712" y="4636008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</a:t>
            </a: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r>
              <a:rPr lang="en-US" sz="105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(toolkit)
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audit-trace format covering cost, latency, and quality for every call in the pipeline.</a:t>
            </a:r>
            <a:endParaRPr lang="en-US" sz="1050" dirty="0"/>
          </a:p>
        </p:txBody>
      </p:sp>
      <p:pic>
        <p:nvPicPr>
          <p:cNvPr id="27" name="Image 3" descr="/home/claude/icons/exchang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488289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14232" y="4636008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04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LangSmith, Helicone, custom logging + spreadsheets
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tracking, tracing, and evaluation live in three different tools that don't talk to each other.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1691640"/>
            <a:ext cx="11274552" cy="3730752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556869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03504" y="5669280"/>
            <a:ext cx="457200" cy="45720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32" name="Image 4" descr="/home/claude/icons/lin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" y="577215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07008" y="556869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vendor, one schema, one audit trail.  </a:t>
            </a:r>
            <a:r>
              <a:rPr lang="en-US" sz="10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fragmented stack needs 4+ vendors' worth of glue code before it can even be compared apples-to-apples — this build gets that integration for free.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ECOSYSTEM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RETRIEVAL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vs. plain-vanilla and hybrid retrieval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34-document corpus, same golden evaluation set — the retrieval method is the only variable.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16936" y="1828800"/>
            <a:ext cx="2895600" cy="502920"/>
          </a:xfrm>
          <a:prstGeom prst="roundRect">
            <a:avLst>
              <a:gd name="adj" fmla="val 10909"/>
            </a:avLst>
          </a:prstGeom>
          <a:solidFill>
            <a:srgbClr val="141A21"/>
          </a:solidFill>
          <a:ln/>
        </p:spPr>
      </p:sp>
      <p:sp>
        <p:nvSpPr>
          <p:cNvPr id="6" name="Shape 4"/>
          <p:cNvSpPr/>
          <p:nvPr/>
        </p:nvSpPr>
        <p:spPr>
          <a:xfrm>
            <a:off x="3026664" y="1897380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7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9796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47288" y="1828800"/>
            <a:ext cx="2273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(vanilla)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0552" y="1828800"/>
            <a:ext cx="2895600" cy="502920"/>
          </a:xfrm>
          <a:prstGeom prst="roundRect">
            <a:avLst>
              <a:gd name="adj" fmla="val 10909"/>
            </a:avLst>
          </a:prstGeom>
          <a:solidFill>
            <a:srgbClr val="141A21"/>
          </a:solidFill>
          <a:ln/>
        </p:spPr>
      </p:sp>
      <p:sp>
        <p:nvSpPr>
          <p:cNvPr id="10" name="Shape 7"/>
          <p:cNvSpPr/>
          <p:nvPr/>
        </p:nvSpPr>
        <p:spPr>
          <a:xfrm>
            <a:off x="6050280" y="1897380"/>
            <a:ext cx="365760" cy="365760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1" name="Image 1" descr="/home/claude/icons/shuff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576" y="19796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70904" y="1828800"/>
            <a:ext cx="2273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(BM25 + dense)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964168" y="1828800"/>
            <a:ext cx="2895600" cy="502920"/>
          </a:xfrm>
          <a:prstGeom prst="roundRect">
            <a:avLst>
              <a:gd name="adj" fmla="val 10909"/>
            </a:avLst>
          </a:prstGeom>
          <a:solidFill>
            <a:srgbClr val="1597C5"/>
          </a:solidFill>
          <a:ln/>
        </p:spPr>
      </p:sp>
      <p:sp>
        <p:nvSpPr>
          <p:cNvPr id="14" name="Shape 10"/>
          <p:cNvSpPr/>
          <p:nvPr/>
        </p:nvSpPr>
        <p:spPr>
          <a:xfrm>
            <a:off x="9073896" y="1897380"/>
            <a:ext cx="365760" cy="36576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15" name="Image 2" descr="/home/claude/icons/search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192" y="19796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94520" y="1828800"/>
            <a:ext cx="2273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40487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Cutoff strategy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2916936" y="2404872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026664" y="2441448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top-K — same K for every query, regardless of how well evidence agrees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940552" y="2404872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050280" y="2441448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weighted blend of sparse + dense scores, hand-tuned per corpus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8964168" y="2404872"/>
            <a:ext cx="2895600" cy="676656"/>
          </a:xfrm>
          <a:prstGeom prst="rect">
            <a:avLst/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073896" y="2441448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Adaptive-cutoff: a relative-score gap sets K per query, dynamically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31546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2916936" y="3154680"/>
            <a:ext cx="2895600" cy="67665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026664" y="3191256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raw cosine order returned as-is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940552" y="3154680"/>
            <a:ext cx="2895600" cy="67665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050280" y="3191256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Optional, usually a separately bolted-on reranker model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8964168" y="3154680"/>
            <a:ext cx="2895600" cy="676656"/>
          </a:xfrm>
          <a:prstGeom prst="rect">
            <a:avLst/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073896" y="3191256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GPU-accelerated reranking microservice (</a:t>
            </a:r>
            <a:r>
              <a:rPr lang="en-US" sz="8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same pipeline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390448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</a:t>
            </a:r>
            <a:endParaRPr lang="en-US" sz="930" dirty="0"/>
          </a:p>
        </p:txBody>
      </p:sp>
      <p:sp>
        <p:nvSpPr>
          <p:cNvPr id="32" name="Shape 27"/>
          <p:cNvSpPr/>
          <p:nvPr/>
        </p:nvSpPr>
        <p:spPr>
          <a:xfrm>
            <a:off x="2916936" y="3904488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026664" y="3941064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CPU-bound, framework-dependent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5940552" y="3904488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050280" y="3941064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 sparse+dense fusion, slower at corpus scale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8964168" y="3904488"/>
            <a:ext cx="2895600" cy="676656"/>
          </a:xfrm>
          <a:prstGeom prst="rect">
            <a:avLst/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073896" y="3941064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 embedding + rerank, production-scale throughput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457200" y="465429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precision (our golden set)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2916936" y="4654296"/>
            <a:ext cx="2895600" cy="67665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026664" y="4690872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 precision — this project's own fixed-K baseline, measured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5940552" y="4654296"/>
            <a:ext cx="2895600" cy="676656"/>
          </a:xfrm>
          <a:prstGeom prst="rect">
            <a:avLst/>
          </a:prstGeom>
          <a:solidFill>
            <a:srgbClr val="1B222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6050280" y="4690872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evaluated in this build — would need separate tuning + re-benchmarking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8964168" y="4654296"/>
            <a:ext cx="2895600" cy="676656"/>
          </a:xfrm>
          <a:prstGeom prst="rect">
            <a:avLst/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073896" y="4690872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 precision / 0.80 recall / 0.73 F1 — measured after the fix</a:t>
            </a:r>
            <a:endParaRPr lang="en-US" sz="850" dirty="0"/>
          </a:p>
        </p:txBody>
      </p:sp>
      <p:sp>
        <p:nvSpPr>
          <p:cNvPr id="45" name="Text 40"/>
          <p:cNvSpPr txBox="1"/>
          <p:nvPr/>
        </p:nvSpPr>
        <p:spPr>
          <a:xfrm>
            <a:off x="457200" y="54041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evaluation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2916936" y="5404104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026664" y="5440680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scoring code, one-off per project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5940552" y="5404104"/>
            <a:ext cx="2895600" cy="676656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050280" y="5440680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fusion logic, no shared benchmark harness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8964168" y="5404104"/>
            <a:ext cx="2895600" cy="676656"/>
          </a:xfrm>
          <a:prstGeom prst="rect">
            <a:avLst/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073896" y="5440680"/>
            <a:ext cx="2676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Paired with </a:t>
            </a:r>
            <a:r>
              <a:rPr lang="en-US" sz="8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NeMo Evaluator</a:t>
            </a:r>
            <a:r>
              <a:rPr lang="en-US" sz="8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 a repeatable P/R/F1 benchmark</a:t>
            </a:r>
            <a:endParaRPr lang="en-US" sz="850" dirty="0"/>
          </a:p>
        </p:txBody>
      </p:sp>
      <p:sp>
        <p:nvSpPr>
          <p:cNvPr id="52" name="Text 47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corpus, same golden set — only the retrieval method changed. The precision jump (0.32 → 0.71) is attributable to the adaptive-cutoff method itself, not a bigger model or more data.</a:t>
            </a:r>
            <a:endParaRPr lang="en-US" sz="930" dirty="0"/>
          </a:p>
        </p:txBody>
      </p:sp>
      <p:sp>
        <p:nvSpPr>
          <p:cNvPr id="53" name="Text 4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RETRIEVAL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NVIDIA ecosystem actually bought LifeShield AI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hypothetical benefits — every row below is a capability this build could not have measured, or would have had to build from scratch, without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365760"/>
          </a:xfrm>
          <a:prstGeom prst="rect">
            <a:avLst/>
          </a:prstGeom>
          <a:solidFill>
            <a:srgbClr val="141A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COMPONENT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GAVE LIFESHIELD 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916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274552" cy="566928"/>
          </a:xfrm>
          <a:prstGeom prst="rect">
            <a:avLst/>
          </a:prstGeom>
          <a:solidFill>
            <a:srgbClr val="141A21"/>
          </a:solidFill>
          <a:ln/>
        </p:spPr>
      </p:sp>
      <p:pic>
        <p:nvPicPr>
          <p:cNvPr id="10" name="Image 0" descr="/home/claude/icons/microchip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2199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20574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OpenAI-compatible endpoint for every reasoning + vision call, dev or self-hosted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0574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Houston run, 152s end-to-end, against the real API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624328"/>
            <a:ext cx="11274552" cy="566928"/>
          </a:xfrm>
          <a:prstGeom prst="rect">
            <a:avLst/>
          </a:prstGeom>
          <a:solidFill>
            <a:srgbClr val="1B222B"/>
          </a:solidFill>
          <a:ln/>
        </p:spPr>
      </p:sp>
      <p:pic>
        <p:nvPicPr>
          <p:cNvPr id="15" name="Image 1" descr="/home/claude/icons/random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889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" y="26243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Switchyard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2926080" y="26243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Per-call routing between small/large models by evidence ambiguity, not hardcoded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2624328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latency scale with need — not every call defaulting to the biggest model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191256"/>
            <a:ext cx="11274552" cy="566928"/>
          </a:xfrm>
          <a:prstGeom prst="rect">
            <a:avLst/>
          </a:prstGeom>
          <a:solidFill>
            <a:srgbClr val="141A21"/>
          </a:solidFill>
          <a:ln/>
        </p:spPr>
      </p:sp>
      <p:pic>
        <p:nvPicPr>
          <p:cNvPr id="20" name="Image 2" descr="/home/claude/icons/satellit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5584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4400" y="31912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2926080" y="319125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call tracing: tokens, latency, cost, and a circuit breaker, all in one format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406640" y="3191256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418s → 95.3s recovery — a measured 4.4× speedup, observed not estimated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3758184"/>
            <a:ext cx="11274552" cy="566928"/>
          </a:xfrm>
          <a:prstGeom prst="rect">
            <a:avLst/>
          </a:prstGeom>
          <a:solidFill>
            <a:srgbClr val="1B222B"/>
          </a:solidFill>
          <a:ln/>
        </p:spPr>
      </p:sp>
      <p:pic>
        <p:nvPicPr>
          <p:cNvPr id="25" name="Image 3" descr="/home/claude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2277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4400" y="375818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2926080" y="37581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grounding self-check that re-verifies narratives against source evidence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406640" y="375818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and demoted an unsupported claim live, mid-run — not a scripted failure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4325112"/>
            <a:ext cx="11274552" cy="566928"/>
          </a:xfrm>
          <a:prstGeom prst="rect">
            <a:avLst/>
          </a:prstGeom>
          <a:solidFill>
            <a:srgbClr val="141A21"/>
          </a:solidFill>
          <a:ln/>
        </p:spPr>
      </p:sp>
      <p:pic>
        <p:nvPicPr>
          <p:cNvPr id="30" name="Image 4" descr="/home/claude/icons/search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48970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4400" y="43251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Retriever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2926080" y="432511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Adaptive-cutoff retrieval in place of a fixed top-K similarity search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7406640" y="4325112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precision measured at 0.32 → 0.71 after the fix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57200" y="4892040"/>
            <a:ext cx="11274552" cy="566928"/>
          </a:xfrm>
          <a:prstGeom prst="rect">
            <a:avLst/>
          </a:prstGeom>
          <a:solidFill>
            <a:srgbClr val="1B222B"/>
          </a:solidFill>
          <a:ln/>
        </p:spPr>
      </p:sp>
      <p:pic>
        <p:nvPicPr>
          <p:cNvPr id="35" name="Image 5" descr="/home/claude/icons/chartbar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056632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14400" y="48920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Evaluator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2926080" y="48920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standardized benchmark harness run through the real pipeline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7406640" y="489204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answer to "is this trustworthy" — not a claim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57200" y="1691640"/>
            <a:ext cx="11274552" cy="3767328"/>
          </a:xfrm>
          <a:prstGeom prst="rect">
            <a:avLst/>
          </a:prstGeom>
          <a:ln w="12700">
            <a:solidFill>
              <a:srgbClr val="26333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57200" y="5641848"/>
            <a:ext cx="2612898" cy="777240"/>
          </a:xfrm>
          <a:prstGeom prst="roundRect">
            <a:avLst>
              <a:gd name="adj" fmla="val 8235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48640" y="5696712"/>
            <a:ext cx="2430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endParaRPr lang="en-US" sz="22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117336"/>
            <a:ext cx="2430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circuit-breaker speedup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3344418" y="5641848"/>
            <a:ext cx="2612898" cy="777240"/>
          </a:xfrm>
          <a:prstGeom prst="roundRect">
            <a:avLst>
              <a:gd name="adj" fmla="val 8235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3435858" y="5696712"/>
            <a:ext cx="2430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2200" dirty="0"/>
          </a:p>
        </p:txBody>
      </p:sp>
      <p:sp>
        <p:nvSpPr>
          <p:cNvPr id="45" name="Text 37"/>
          <p:cNvSpPr txBox="1"/>
          <p:nvPr/>
        </p:nvSpPr>
        <p:spPr>
          <a:xfrm>
            <a:off x="3435858" y="6117336"/>
            <a:ext cx="2430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precision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6231636" y="5641848"/>
            <a:ext cx="2612898" cy="777240"/>
          </a:xfrm>
          <a:prstGeom prst="roundRect">
            <a:avLst>
              <a:gd name="adj" fmla="val 8235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323076" y="5696712"/>
            <a:ext cx="2430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152s</a:t>
            </a:r>
            <a:endParaRPr lang="en-US" sz="2200" dirty="0"/>
          </a:p>
        </p:txBody>
      </p:sp>
      <p:sp>
        <p:nvSpPr>
          <p:cNvPr id="48" name="Text 40"/>
          <p:cNvSpPr txBox="1"/>
          <p:nvPr/>
        </p:nvSpPr>
        <p:spPr>
          <a:xfrm>
            <a:off x="6323076" y="6117336"/>
            <a:ext cx="2430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live run, real API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9118854" y="5641848"/>
            <a:ext cx="2612898" cy="777240"/>
          </a:xfrm>
          <a:prstGeom prst="roundRect">
            <a:avLst>
              <a:gd name="adj" fmla="val 8235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9210294" y="5696712"/>
            <a:ext cx="2430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51" name="Text 43"/>
          <p:cNvSpPr txBox="1"/>
          <p:nvPr/>
        </p:nvSpPr>
        <p:spPr>
          <a:xfrm>
            <a:off x="9210294" y="6117336"/>
            <a:ext cx="2430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services, wired live</a:t>
            </a:r>
            <a:endParaRPr lang="en-US" sz="850" dirty="0"/>
          </a:p>
        </p:txBody>
      </p:sp>
      <p:sp>
        <p:nvSpPr>
          <p:cNvPr id="52" name="Text 4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NVIDIA · IMPACT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worth to each buyer, in their own currency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22976" cy="3063240"/>
          </a:xfrm>
          <a:prstGeom prst="roundRect">
            <a:avLst>
              <a:gd name="adj" fmla="val 2388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land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1873606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783080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Government / NDMA agencies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459736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368296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hours, from evidence to a defensible public warning — with a full audit trail attached automatically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640080" y="3209544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118104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reduction: every decision is a human's, but every input to that decision is traceable and reproducible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640080" y="3959352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867912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across 3 countries today (Houston, Chennai, Bengaluru) via the adapter pattern — not a bespoke build per city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6208776" y="1600200"/>
            <a:ext cx="5522976" cy="3063240"/>
          </a:xfrm>
          <a:prstGeom prst="roundRect">
            <a:avLst>
              <a:gd name="adj" fmla="val 2388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91656" y="178308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6" name="Image 1" descr="/home/claude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182" y="1873606"/>
            <a:ext cx="221285" cy="22128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94576" y="1783080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Insurers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391656" y="2459736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74536" y="2368296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Portfolio-level exposure triage the moment an event starts — before individual claims exist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6391656" y="3209544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74536" y="3118104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attacks the stat that matters to them: a $424B global protection gap is un-priced opportunity, not just risk</a:t>
            </a:r>
            <a:endParaRPr lang="en-US" sz="970" dirty="0"/>
          </a:p>
        </p:txBody>
      </p:sp>
      <p:sp>
        <p:nvSpPr>
          <p:cNvPr id="22" name="Shape 18"/>
          <p:cNvSpPr/>
          <p:nvPr/>
        </p:nvSpPr>
        <p:spPr>
          <a:xfrm>
            <a:off x="6391656" y="3959352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74536" y="3867912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ever touches a dollar figure — the one sentence that gets this into an actuarial review, not rejected by one</a:t>
            </a:r>
            <a:endParaRPr lang="en-US" sz="970" dirty="0"/>
          </a:p>
        </p:txBody>
      </p:sp>
      <p:sp>
        <p:nvSpPr>
          <p:cNvPr id="24" name="Shape 20"/>
          <p:cNvSpPr/>
          <p:nvPr/>
        </p:nvSpPr>
        <p:spPr>
          <a:xfrm>
            <a:off x="457200" y="4864608"/>
            <a:ext cx="11274552" cy="1170432"/>
          </a:xfrm>
          <a:prstGeom prst="roundRect">
            <a:avLst>
              <a:gd name="adj" fmla="val 6250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4992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IN ONE SENTENCE FOR EITHER BUYER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285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turn five disconnected data feeds into one auditable, guardrail-checked decision in minutes — priced on decisions supported, not seats.”  </a:t>
            </a:r>
            <a:r>
              <a:rPr lang="en-US" sz="12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</a:t>
            </a:r>
            <a:r>
              <a:rPr lang="en-US" sz="12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Relay</a:t>
            </a:r>
            <a:r>
              <a:rPr lang="en-US" sz="12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trace file is the literal artifact that pricing would meter.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THIS AS A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build to a licensable, patentable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22976" cy="4434840"/>
          </a:xfrm>
          <a:prstGeom prst="roundRect">
            <a:avLst>
              <a:gd name="adj" fmla="val 1649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6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1873606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783080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scaling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478024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386584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Self-hosted </a:t>
            </a: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behind </a:t>
            </a: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Dynamo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 disaggregated, KV-cache-aware serving at real load — </a:t>
            </a: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prod path already exists for this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3319272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22783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in-memory run store with Postgres + an event-sourced audit log — the one flagged blocker before multi-instance deployment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4069080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Proactive Monitor into a real event-bus consumer instead of a 45s poll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5001768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91032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evidence adapters — config per customer, not code per city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08776" y="1600200"/>
            <a:ext cx="5522976" cy="4434840"/>
          </a:xfrm>
          <a:prstGeom prst="roundRect">
            <a:avLst>
              <a:gd name="adj" fmla="val 1649"/>
            </a:avLst>
          </a:prstGeom>
          <a:solidFill>
            <a:srgbClr val="141A21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178308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8" name="Image 1" descr="/home/claude/icons/sca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182" y="1873606"/>
            <a:ext cx="221285" cy="22128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94576" y="1783080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/ patent angle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391656" y="2478024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74536" y="2386584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evidence-agreement confidence gate (deterministic 0.4/0.3/0.3 weighted source-agreement scoring feeding a model-routing decision) is a concrete, novel decision-gating method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391656" y="3593592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74536" y="350215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adaptive-cutoff retrieval method (replacing fixed top-K with a relative-score gap) is a measurable, defensible improvement over standard RAG retrieval — patentable as a retrieval-quality method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91656" y="4709160"/>
            <a:ext cx="73152" cy="73152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74536" y="4617720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circuit-breaker-gated agentic-fallback architecture (measured 4.4× speedup) is a reusable resilience pattern for any agentic pipeline, not just this one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THIS AS A PRODUCT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what unlocks the next thing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75304" cy="4160520"/>
          </a:xfrm>
          <a:prstGeom prst="roundRect">
            <a:avLst>
              <a:gd name="adj" fmla="val 2046"/>
            </a:avLst>
          </a:prstGeom>
          <a:solidFill>
            <a:srgbClr val="141A21"/>
          </a:solidFill>
          <a:ln w="15875">
            <a:solidFill>
              <a:srgbClr val="159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3575304" cy="566928"/>
          </a:xfrm>
          <a:prstGeom prst="roundRect">
            <a:avLst>
              <a:gd name="adj" fmla="val 12903"/>
            </a:avLst>
          </a:prstGeom>
          <a:solidFill>
            <a:srgbClr val="1E283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20824"/>
            <a:ext cx="3575304" cy="283464"/>
          </a:xfrm>
          <a:prstGeom prst="rect">
            <a:avLst/>
          </a:prstGeom>
          <a:solidFill>
            <a:srgbClr val="1E283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47088"/>
            <a:ext cx="365760" cy="36576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8" name="Image 0" descr="/home/claude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929384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181051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06654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551176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245973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datastore for runs/approvals (Postgres)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3300984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320954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authentication (today's login is disclosed as mock)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4050792"/>
            <a:ext cx="64008" cy="64008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" y="395935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Twilio trial-template send path</a:t>
            </a:r>
            <a:endParaRPr lang="en-US" sz="950" dirty="0"/>
          </a:p>
        </p:txBody>
      </p:sp>
      <p:pic>
        <p:nvPicPr>
          <p:cNvPr id="17" name="Image 1" descr="/home/claude/icons/arrow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3735324"/>
            <a:ext cx="164592" cy="164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306824" y="1737360"/>
            <a:ext cx="3575304" cy="4160520"/>
          </a:xfrm>
          <a:prstGeom prst="roundRect">
            <a:avLst>
              <a:gd name="adj" fmla="val 2046"/>
            </a:avLst>
          </a:prstGeom>
          <a:solidFill>
            <a:srgbClr val="141A21"/>
          </a:solidFill>
          <a:ln w="15875">
            <a:solidFill>
              <a:srgbClr val="5FA8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06824" y="1737360"/>
            <a:ext cx="3575304" cy="566928"/>
          </a:xfrm>
          <a:prstGeom prst="roundRect">
            <a:avLst>
              <a:gd name="adj" fmla="val 12903"/>
            </a:avLst>
          </a:prstGeom>
          <a:solidFill>
            <a:srgbClr val="1E2830"/>
          </a:solidFill>
          <a:ln/>
        </p:spPr>
      </p:sp>
      <p:sp>
        <p:nvSpPr>
          <p:cNvPr id="20" name="Shape 16"/>
          <p:cNvSpPr/>
          <p:nvPr/>
        </p:nvSpPr>
        <p:spPr>
          <a:xfrm>
            <a:off x="4306824" y="2020824"/>
            <a:ext cx="3575304" cy="283464"/>
          </a:xfrm>
          <a:prstGeom prst="rect">
            <a:avLst/>
          </a:prstGeom>
          <a:solidFill>
            <a:srgbClr val="1E2830"/>
          </a:solidFill>
          <a:ln/>
        </p:spPr>
      </p:sp>
      <p:sp>
        <p:nvSpPr>
          <p:cNvPr id="21" name="Shape 17"/>
          <p:cNvSpPr/>
          <p:nvPr/>
        </p:nvSpPr>
        <p:spPr>
          <a:xfrm>
            <a:off x="4489704" y="1847088"/>
            <a:ext cx="365760" cy="36576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22" name="Image 2" descr="/home/claude/icons/rocket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2938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65192" y="181051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965192" y="206654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same design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489704" y="2551176"/>
            <a:ext cx="64008" cy="6400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654296" y="245973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Self-hosted </a:t>
            </a: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</a:t>
            </a: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 the prod runtime target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489704" y="3300984"/>
            <a:ext cx="64008" cy="6400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654296" y="320954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Business-interruption exposure modeling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489704" y="4050792"/>
            <a:ext cx="64008" cy="6400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654296" y="395935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Event-bus-driven Proactive Monitor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489704" y="4800600"/>
            <a:ext cx="64008" cy="6400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654296" y="470916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Per-customer evidence-source configuration</a:t>
            </a:r>
            <a:endParaRPr lang="en-US" sz="950" dirty="0"/>
          </a:p>
        </p:txBody>
      </p:sp>
      <p:pic>
        <p:nvPicPr>
          <p:cNvPr id="33" name="Image 3" descr="/home/claude/icons/arrow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735324"/>
            <a:ext cx="164592" cy="16459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156448" y="1737360"/>
            <a:ext cx="3575304" cy="4160520"/>
          </a:xfrm>
          <a:prstGeom prst="roundRect">
            <a:avLst>
              <a:gd name="adj" fmla="val 2046"/>
            </a:avLst>
          </a:prstGeom>
          <a:solidFill>
            <a:srgbClr val="141A21"/>
          </a:solidFill>
          <a:ln w="15875">
            <a:solidFill>
              <a:srgbClr val="F04B2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156448" y="1737360"/>
            <a:ext cx="3575304" cy="566928"/>
          </a:xfrm>
          <a:prstGeom prst="roundRect">
            <a:avLst>
              <a:gd name="adj" fmla="val 12903"/>
            </a:avLst>
          </a:prstGeom>
          <a:solidFill>
            <a:srgbClr val="1E2830"/>
          </a:solidFill>
          <a:ln/>
        </p:spPr>
      </p:sp>
      <p:sp>
        <p:nvSpPr>
          <p:cNvPr id="36" name="Shape 30"/>
          <p:cNvSpPr/>
          <p:nvPr/>
        </p:nvSpPr>
        <p:spPr>
          <a:xfrm>
            <a:off x="8156448" y="2020824"/>
            <a:ext cx="3575304" cy="283464"/>
          </a:xfrm>
          <a:prstGeom prst="rect">
            <a:avLst/>
          </a:prstGeom>
          <a:solidFill>
            <a:srgbClr val="1E2830"/>
          </a:solidFill>
          <a:ln/>
        </p:spPr>
      </p:sp>
      <p:sp>
        <p:nvSpPr>
          <p:cNvPr id="37" name="Shape 31"/>
          <p:cNvSpPr/>
          <p:nvPr/>
        </p:nvSpPr>
        <p:spPr>
          <a:xfrm>
            <a:off x="8339328" y="1847088"/>
            <a:ext cx="365760" cy="365760"/>
          </a:xfrm>
          <a:prstGeom prst="ellipse">
            <a:avLst/>
          </a:prstGeom>
          <a:solidFill>
            <a:srgbClr val="1B222B"/>
          </a:solidFill>
          <a:ln/>
        </p:spPr>
      </p:sp>
      <p:pic>
        <p:nvPicPr>
          <p:cNvPr id="38" name="Image 4" descr="/home/claude/icons/earth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929384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814816" y="181051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8814816" y="206654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capabilities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9100" name="Later roadmap bullet 1"/>
          <p:cNvSpPr/>
          <p:nvPr/>
        </p:nvSpPr>
        <p:spPr>
          <a:xfrm>
            <a:off x="8339328" y="2480000"/>
            <a:ext cx="64008" cy="64008"/>
          </a:xfrm>
          <a:prstGeom prst="ellipse">
            <a:avLst/>
          </a:prstGeom>
          <a:solidFill>
            <a:srgbClr val="F04B23"/>
          </a:solidFill>
          <a:ln/>
        </p:spPr>
      </p:sp>
      <p:sp>
        <p:nvSpPr>
          <p:cNvPr id="9101" name="Later roadmap text 1"/>
          <p:cNvSpPr txBox="1"/>
          <p:nvPr/>
        </p:nvSpPr>
        <p:spPr>
          <a:xfrm>
            <a:off x="8503920" y="2390000"/>
            <a:ext cx="304495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Cross-event memory, trend reasoning and country adapters</a:t>
            </a:r>
            <a:endParaRPr lang="en-US" sz="950" dirty="0"/>
          </a:p>
        </p:txBody>
      </p:sp>
      <p:sp>
        <p:nvSpPr>
          <p:cNvPr id="9102" name="Later roadmap bullet 2"/>
          <p:cNvSpPr/>
          <p:nvPr/>
        </p:nvSpPr>
        <p:spPr>
          <a:xfrm>
            <a:off x="8339328" y="3120000"/>
            <a:ext cx="64008" cy="64008"/>
          </a:xfrm>
          <a:prstGeom prst="ellipse">
            <a:avLst/>
          </a:prstGeom>
          <a:solidFill>
            <a:srgbClr val="F04B23"/>
          </a:solidFill>
          <a:ln/>
        </p:spPr>
      </p:sp>
      <p:sp>
        <p:nvSpPr>
          <p:cNvPr id="9103" name="Later roadmap text 2"/>
          <p:cNvSpPr txBox="1"/>
          <p:nvPr/>
        </p:nvSpPr>
        <p:spPr>
          <a:xfrm>
            <a:off x="8503920" y="3030000"/>
            <a:ext cx="304495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Omniverse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digital-twin flood simulation</a:t>
            </a:r>
            <a:endParaRPr lang="en-US" sz="950" dirty="0"/>
          </a:p>
        </p:txBody>
      </p:sp>
      <p:sp>
        <p:nvSpPr>
          <p:cNvPr id="9104" name="Later roadmap bullet 3"/>
          <p:cNvSpPr/>
          <p:nvPr/>
        </p:nvSpPr>
        <p:spPr>
          <a:xfrm>
            <a:off x="8339328" y="3760000"/>
            <a:ext cx="64008" cy="64008"/>
          </a:xfrm>
          <a:prstGeom prst="ellipse">
            <a:avLst/>
          </a:prstGeom>
          <a:solidFill>
            <a:srgbClr val="F04B23"/>
          </a:solidFill>
          <a:ln/>
        </p:spPr>
      </p:sp>
      <p:sp>
        <p:nvSpPr>
          <p:cNvPr id="9105" name="Later roadmap text 3"/>
          <p:cNvSpPr txBox="1"/>
          <p:nvPr/>
        </p:nvSpPr>
        <p:spPr>
          <a:xfrm>
            <a:off x="8503920" y="3670000"/>
            <a:ext cx="304495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Metropolis</a:t>
            </a: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vision AI for traffic, damage and public safety</a:t>
            </a:r>
            <a:endParaRPr lang="en-US" sz="950" dirty="0"/>
          </a:p>
        </p:txBody>
      </p:sp>
      <p:sp>
        <p:nvSpPr>
          <p:cNvPr id="9106" name="Later roadmap bullet 4"/>
          <p:cNvSpPr/>
          <p:nvPr/>
        </p:nvSpPr>
        <p:spPr>
          <a:xfrm>
            <a:off x="8339328" y="4400000"/>
            <a:ext cx="64008" cy="64008"/>
          </a:xfrm>
          <a:prstGeom prst="ellipse">
            <a:avLst/>
          </a:prstGeom>
          <a:solidFill>
            <a:srgbClr val="F04B23"/>
          </a:solidFill>
          <a:ln/>
        </p:spPr>
      </p:sp>
      <p:sp>
        <p:nvSpPr>
          <p:cNvPr id="9107" name="Later roadmap text 4"/>
          <p:cNvSpPr txBox="1"/>
          <p:nvPr/>
        </p:nvSpPr>
        <p:spPr>
          <a:xfrm>
            <a:off x="8503920" y="4310000"/>
            <a:ext cx="304495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Human-reviewed damage-ratio calibration from real claims data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NVIDIA, verified live, ready to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5" name="Image 0" descr="/home/claude/icons/microchip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1782166"/>
            <a:ext cx="221285" cy="2212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673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NVIDIA services wired live 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115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Evaluator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not a wrapper around one API call.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8" name="Image 1" descr="/home/claude/icons/dollar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2559406"/>
            <a:ext cx="221285" cy="2212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450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$320B/year problem, a $424B protection gap  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market voting with double-digit CAGRs across every flood-tech category we checked.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1" name="Image 2" descr="/home/claude/icons/chartbar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3336646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22783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claimed  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0.32→0.71 retrieval precision, 418s→95.3s circuit-breaker speedup, a live-caught hallucination — every number in this deck traces to real code.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E2830"/>
          </a:solidFill>
          <a:ln/>
        </p:spPr>
      </p:sp>
      <p:pic>
        <p:nvPicPr>
          <p:cNvPr id="14" name="Image 3" descr="/home/claude/icons/earth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6" y="4113886"/>
            <a:ext cx="221285" cy="22128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0050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buyers, one engine, three countries already proven  </a:t>
            </a:r>
            <a:r>
              <a:rPr lang="en-US" sz="115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adapter pattern is the actual go-to-market moat.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93776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E2830"/>
          </a:solidFill>
          <a:ln w="12700">
            <a:solidFill>
              <a:srgbClr val="1597C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5074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5349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Design-partner access to a real gauge network / policy book to move from replay fixtures to a live pilot, and </a:t>
            </a:r>
            <a:r>
              <a:rPr lang="en-US" sz="12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Inception</a:t>
            </a: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/ </a:t>
            </a:r>
            <a:r>
              <a:rPr lang="en-US" sz="120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 Cloud</a:t>
            </a: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credits to move the prod runtime target from code-complete to load-tested.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list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55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Aon, "Global Catastrophe Recap" (2024) — aon.com/reinsurance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457200" y="226314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1808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Munich Re, 2024 global natural disaster loss estimate ($320B) — via Yahoo Finance / Munich Re press materials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27066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Re Institute, sigma research — natural catastrophe protection gap, insured-loss projections to 2030 — swissre.com/institute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57200" y="331470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32324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EM-DAT / CRED, "2024 Report" and "2023 Report" — Centre for Research on the Epidemiology of Disasters — files.emdat.be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37581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Policy Research Working Paper 9447, "People in Harm's Way: Flood Exposure and Poverty in 189 Countries" — documents1.worldbank.org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436626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42839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Statista, U.S. and global flood economic damage statistics — statista.com/topics/11261/floods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809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MarketsandMarkets / GlobeNewswire, Incident &amp; Emergency Management Market report — marketsandmarkets.com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57200" y="541782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53355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ResearchAndMarkets / GMInsights, Flood Insurance Market — researchandmarkets.com, gminsights.com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58613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MarketResearchFuture, Flood Warning System Market; AI Insurtech Market — marketresearchfuture.com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45352" y="1655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GrowthMarketReports, Catastrophe Modeling Software Market — growthmarketreports.com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080760" y="226314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45352" y="21808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Flood Hub / AI flood forecasting announcements — blog.google, cities.google/flood-hub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080760" y="278892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45352" y="27066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Corps / NetZero Insights, Cloud to Street / Floodbase funding coverage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080760" y="331470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45352" y="32324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ICEYE newsroom, Series E funding announcement (Dec 2024) — iceye.com/newsroom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080760" y="384048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45352" y="37581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Analysts / IDC-based estimates, AI accelerator market share 2025-2026 — siliconanalysts.com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080760" y="436626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45352" y="42839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Q1 FY2026 and AMD Q1 2026 earnings releases — data-center revenue figures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080760" y="489204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45352" y="4809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NVIDIA Developer Blog, </a:t>
            </a:r>
            <a:r>
              <a:rPr lang="en-US" sz="960" dirty="0" b="1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</a:t>
            </a: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performance benchmark posts — developer.nvidia.com/blog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080760" y="5417820"/>
            <a:ext cx="54864" cy="54864"/>
          </a:xfrm>
          <a:prstGeom prst="ellipse">
            <a:avLst/>
          </a:prstGeom>
          <a:solidFill>
            <a:srgbClr val="159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45352" y="53355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ecosystem analyses (developer counts, gross-margin comparison) — multiple 2025 industry analyses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sign-in with 4 role-based personas — Government, Insurance, Emergency Response, and Executive.</a:t>
            </a:r>
            <a:endParaRPr lang="en-US" sz="1400" dirty="0"/>
          </a:p>
        </p:txBody>
      </p:sp>
      <p:pic>
        <p:nvPicPr>
          <p:cNvPr id="101" name="Screenshot" descr="Sign-in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222245" y="1800000"/>
            <a:ext cx="9717030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 overview for Houston, TX — gate-pipeline status, evidence sources, nearest shelter, and estimated exposure.</a:t>
            </a:r>
            <a:endParaRPr lang="en-US" sz="1400" dirty="0"/>
          </a:p>
        </p:txBody>
      </p:sp>
      <p:pic>
        <p:nvPicPr>
          <p:cNvPr id="101" name="Screenshot" descr="Command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470837" y="1800000"/>
            <a:ext cx="9219845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Runtime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four-agent evidence pipeline, shown here holding under a red-team simulated evidence conflict.</a:t>
            </a:r>
            <a:endParaRPr lang="en-US" sz="1400" dirty="0"/>
          </a:p>
        </p:txBody>
      </p:sp>
      <p:pic>
        <p:nvPicPr>
          <p:cNvPr id="101" name="Screenshot" descr="Agentic Runtime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313312" y="1800000"/>
            <a:ext cx="9534896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AI-generated summary built only from this run's own gates, life-safety, exposure, and evacuation output.</a:t>
            </a:r>
            <a:endParaRPr lang="en-US" sz="1400" dirty="0"/>
          </a:p>
        </p:txBody>
      </p:sp>
      <p:pic>
        <p:nvPicPr>
          <p:cNvPr id="101" name="Screenshot" descr="Executive Briefing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245352" y="1800000"/>
            <a:ext cx="9670815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Cross-event view of aggregate exposure, total insured value, and status across every monitored event.</a:t>
            </a:r>
            <a:endParaRPr lang="en-US" sz="1400" dirty="0"/>
          </a:p>
        </p:txBody>
      </p:sp>
      <p:pic>
        <p:nvPicPr>
          <p:cNvPr id="101" name="Screenshot" descr="Portfolio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250725" y="1800000"/>
            <a:ext cx="9660070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&amp; Safe Places</a:t>
            </a:r>
            <a:endParaRPr lang="en-US" sz="2700" dirty="0"/>
          </a:p>
        </p:txBody>
      </p:sp>
      <p:sp>
        <p:nvSpPr>
          <p:cNvPr id="100" name="Subtitle"/>
          <p:cNvSpPr txBox="1"/>
          <p:nvPr/>
        </p:nvSpPr>
        <p:spPr>
          <a:xfrm>
            <a:off x="457200" y="1250000"/>
            <a:ext cx="11247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footprint, NWS alert area, and nearby shelters plotted for evacuation planning.</a:t>
            </a:r>
            <a:endParaRPr lang="en-US" sz="1400" dirty="0"/>
          </a:p>
        </p:txBody>
      </p:sp>
      <p:pic>
        <p:nvPicPr>
          <p:cNvPr id="101" name="Screenshot" descr="Map and Safe Places screen"/>
          <p:cNvPicPr>
            <a:picLocks noChangeAspect="1"/>
          </p:cNvPicPr>
          <p:nvPr/>
        </p:nvPicPr>
        <p:blipFill>
          <a:blip r:embed="rIdShot"/>
          <a:stretch>
            <a:fillRect/>
          </a:stretch>
        </p:blipFill>
        <p:spPr>
          <a:xfrm>
            <a:off x="1254183" y="1800000"/>
            <a:ext cx="9653154" cy="4547104"/>
          </a:xfrm>
          <a:prstGeom prst="rect">
            <a:avLst/>
          </a:prstGeom>
          <a:ln w="9525">
            <a:solidFill>
              <a:srgbClr val="E2E8F0"/>
            </a:solidFill>
          </a:ln>
          <a:effectLst>
            <a:outerShdw blurRad="110000" dist="25000" dir="5400000" rotWithShape="0">
              <a:srgbClr val="000000">
                <a:alpha val="18000"/>
              </a:srgbClr>
            </a:outerShdw>
          </a:effectLst>
        </p:spPr>
      </p:pic>
      <p:sp>
        <p:nvSpPr>
          <p:cNvPr id="38" name="Text 3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97C5"/>
      </a:accent1>
      <a:accent2>
        <a:srgbClr val="F04B2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4372</Words>
  <Application>Microsoft Office PowerPoint</Application>
  <PresentationFormat>Widescreen</PresentationFormat>
  <Paragraphs>530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Ramakrishnan Vedanarayanan</cp:lastModifiedBy>
  <cp:revision>3</cp:revision>
  <dcterms:created xsi:type="dcterms:W3CDTF">2026-09-15T02:53:31Z</dcterms:created>
  <dcterms:modified xsi:type="dcterms:W3CDTF">2026-09-15T02:57:16Z</dcterms:modified>
</cp:coreProperties>
</file>